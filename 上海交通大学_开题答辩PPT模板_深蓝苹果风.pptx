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3"/>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Lst>
  <p:sldSz cx="13333333" cy="7500000" type="wide"/>
  <p:notesSz cx="6858000" cy="9144000"/>
  <p:defaultTextStyle>
    <a:defPPr>
      <a:defRPr lang="zh-CN">
        <a:latin typeface="Aptos"/>
        <a:ea typeface="Microsoft YaHei"/>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0" d="100"/>
          <a:sy n="100" d="100"/>
        </p:scale>
        <p:origin x="0" y="0"/>
      </p:cViewPr>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Master" Target="slideMasters/slideMaster1.xml"/><Relationship Id="rId14" Type="http://schemas.openxmlformats.org/officeDocument/2006/relationships/theme" Target="theme/theme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jtu_official_seal.png"/><Relationship Id="rId3" Type="http://schemas.openxmlformats.org/officeDocument/2006/relationships/image" Target="../media/sjtu_official_horizontal_logo.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logo plate"/>
          <p:cNvSpPr/>
          <p:nvPr/>
        </p:nvSpPr>
        <p:spPr>
          <a:xfrm>
            <a:off x="841248" y="713232"/>
            <a:ext cx="2971800" cy="786384"/>
          </a:xfrm>
          <a:prstGeom prst="roundRect">
            <a:avLst/>
          </a:prstGeom>
          <a:solidFill>
            <a:srgbClr val="F7FBFF">
              <a:alpha val="94000"/>
            </a:srgbClr>
          </a:solidFill>
          <a:ln w="6350">
            <a:solidFill>
              <a:srgbClr val="D9E8F8"/>
            </a:solidFill>
          </a:ln>
        </p:spPr>
        <p:txBody>
          <a:bodyPr/>
          <a:lstStyle/>
          <a:p/>
        </p:txBody>
      </p:sp>
      <p:pic>
        <p:nvPicPr>
          <p:cNvPr id="9" name="SJTU official horizontal logo"/>
          <p:cNvPicPr/>
          <p:nvPr/>
        </p:nvPicPr>
        <p:blipFill>
          <a:blip r:embed="rId3"/>
          <a:stretch>
            <a:fillRect/>
          </a:stretch>
        </p:blipFill>
        <p:spPr>
          <a:xfrm>
            <a:off x="1024128" y="859536"/>
            <a:ext cx="2395728" cy="530352"/>
          </a:xfrm>
          <a:prstGeom prst="rect">
            <a:avLst/>
          </a:prstGeom>
        </p:spPr>
      </p:pic>
      <p:sp>
        <p:nvSpPr>
          <p:cNvPr id="10" name="small label"/>
          <p:cNvSpPr txBox="1"/>
          <p:nvPr/>
        </p:nvSpPr>
        <p:spPr>
          <a:xfrm>
            <a:off x="859536" y="1965960"/>
            <a:ext cx="2377440" cy="256032"/>
          </a:xfrm>
          <a:prstGeom prst="rect">
            <a:avLst/>
          </a:prstGeom>
          <a:noFill/>
          <a:ln>
            <a:noFill/>
          </a:ln>
        </p:spPr>
        <p:txBody>
          <a:bodyPr wrap="square" anchor="t" lIns="0" rIns="0" tIns="0" bIns="0"/>
          <a:lstStyle/>
          <a:p>
            <a:pPr algn="l" marL="0" indent="0" spcBef="0" spcAft="0">
              <a:buNone/>
            </a:pPr>
            <a:r>
              <a:rPr lang="zh-CN" sz="920" b="1">
                <a:solidFill>
                  <a:srgbClr val="77E2FF"/>
                </a:solidFill>
                <a:latin typeface="Aptos"/>
                <a:ea typeface="Microsoft YaHei"/>
              </a:rPr>
              <a:t>PROPOSAL DEFENSE</a:t>
            </a:r>
          </a:p>
        </p:txBody>
      </p:sp>
      <p:sp>
        <p:nvSpPr>
          <p:cNvPr id="11" name="cover title"/>
          <p:cNvSpPr txBox="1"/>
          <p:nvPr/>
        </p:nvSpPr>
        <p:spPr>
          <a:xfrm>
            <a:off x="804672" y="2331720"/>
            <a:ext cx="8138160" cy="1143000"/>
          </a:xfrm>
          <a:prstGeom prst="rect">
            <a:avLst/>
          </a:prstGeom>
          <a:noFill/>
          <a:ln>
            <a:noFill/>
          </a:ln>
        </p:spPr>
        <p:txBody>
          <a:bodyPr wrap="square" anchor="t" lIns="0" rIns="0" tIns="0" bIns="0"/>
          <a:lstStyle/>
          <a:p>
            <a:pPr algn="l" marL="0" indent="0" spcBef="0" spcAft="0">
              <a:buNone/>
            </a:pPr>
            <a:r>
              <a:rPr lang="zh-CN" sz="3300" b="1">
                <a:solidFill>
                  <a:srgbClr val="EAF2FF"/>
                </a:solidFill>
                <a:latin typeface="Aptos"/>
                <a:ea typeface="Microsoft YaHei"/>
              </a:rPr>
              <a:t>论文题目：在此填写研究课题名称</a:t>
            </a:r>
          </a:p>
        </p:txBody>
      </p:sp>
      <p:sp>
        <p:nvSpPr>
          <p:cNvPr id="12" name="cover subtitle"/>
          <p:cNvSpPr txBox="1"/>
          <p:nvPr/>
        </p:nvSpPr>
        <p:spPr>
          <a:xfrm>
            <a:off x="859536" y="3749039"/>
            <a:ext cx="6949440" cy="384048"/>
          </a:xfrm>
          <a:prstGeom prst="rect">
            <a:avLst/>
          </a:prstGeom>
          <a:noFill/>
          <a:ln>
            <a:noFill/>
          </a:ln>
        </p:spPr>
        <p:txBody>
          <a:bodyPr wrap="square" anchor="t" lIns="0" rIns="0" tIns="0" bIns="0"/>
          <a:lstStyle/>
          <a:p>
            <a:pPr algn="l" marL="0" indent="0" spcBef="0" spcAft="0">
              <a:buNone/>
            </a:pPr>
            <a:r>
              <a:rPr lang="zh-CN" sz="1420">
                <a:solidFill>
                  <a:srgbClr val="DDEBFF"/>
                </a:solidFill>
                <a:latin typeface="Aptos"/>
                <a:ea typeface="Microsoft YaHei"/>
              </a:rPr>
              <a:t>深蓝苹果风开题答辩模板</a:t>
            </a:r>
          </a:p>
        </p:txBody>
      </p:sp>
      <p:sp>
        <p:nvSpPr>
          <p:cNvPr id="13" name="cover meta"/>
          <p:cNvSpPr txBox="1"/>
          <p:nvPr/>
        </p:nvSpPr>
        <p:spPr>
          <a:xfrm>
            <a:off x="877824" y="4736592"/>
            <a:ext cx="5120640" cy="841248"/>
          </a:xfrm>
          <a:prstGeom prst="rect">
            <a:avLst/>
          </a:prstGeom>
          <a:noFill/>
          <a:ln>
            <a:noFill/>
          </a:ln>
        </p:spPr>
        <p:txBody>
          <a:bodyPr wrap="square" anchor="t" lIns="0" rIns="0" tIns="0" bIns="0"/>
          <a:lstStyle/>
          <a:p>
            <a:pPr algn="l" marL="0" indent="0" spcBef="0" spcAft="45000">
              <a:buNone/>
            </a:pPr>
            <a:r>
              <a:rPr lang="zh-CN" sz="1050">
                <a:solidFill>
                  <a:srgbClr val="A9B8CC"/>
                </a:solidFill>
                <a:latin typeface="Aptos"/>
                <a:ea typeface="Microsoft YaHei"/>
              </a:rPr>
              <a:t>学院 / 系：在此填写</a:t>
            </a:r>
          </a:p>
          <a:p>
            <a:pPr algn="l" marL="0" indent="0" spcBef="0" spcAft="45000">
              <a:buNone/>
            </a:pPr>
            <a:r>
              <a:rPr lang="zh-CN" sz="1050">
                <a:solidFill>
                  <a:srgbClr val="A9B8CC"/>
                </a:solidFill>
                <a:latin typeface="Aptos"/>
                <a:ea typeface="Microsoft YaHei"/>
              </a:rPr>
              <a:t>答辩人：姓名    指导教师：姓名 职称</a:t>
            </a:r>
          </a:p>
          <a:p>
            <a:pPr algn="l" marL="0" indent="0" spcBef="0" spcAft="0">
              <a:buNone/>
            </a:pPr>
            <a:r>
              <a:rPr lang="zh-CN" sz="1050">
                <a:solidFill>
                  <a:srgbClr val="A9B8CC"/>
                </a:solidFill>
                <a:latin typeface="Aptos"/>
                <a:ea typeface="Microsoft YaHei"/>
              </a:rPr>
              <a:t>日期：2026年 月 日</a:t>
            </a:r>
          </a:p>
        </p:txBody>
      </p:sp>
      <p:sp>
        <p:nvSpPr>
          <p:cNvPr id="14" name="cover glass line"/>
          <p:cNvSpPr/>
          <p:nvPr/>
        </p:nvSpPr>
        <p:spPr>
          <a:xfrm>
            <a:off x="877824" y="5916168"/>
            <a:ext cx="9875520" cy="16459"/>
          </a:xfrm>
          <a:prstGeom prst="rect">
            <a:avLst/>
          </a:prstGeom>
          <a:solidFill>
            <a:srgbClr val="34516F"/>
          </a:solidFill>
          <a:ln>
            <a:noFill/>
          </a:ln>
        </p:spPr>
        <p:txBody>
          <a:bodyPr/>
          <a:lstStyle/>
          <a:p/>
        </p:txBody>
      </p:sp>
      <p:sp>
        <p:nvSpPr>
          <p:cNvPr id="15" name="source"/>
          <p:cNvSpPr txBox="1"/>
          <p:nvPr/>
        </p:nvSpPr>
        <p:spPr>
          <a:xfrm>
            <a:off x="877824" y="6172200"/>
            <a:ext cx="8869680" cy="201168"/>
          </a:xfrm>
          <a:prstGeom prst="rect">
            <a:avLst/>
          </a:prstGeom>
          <a:noFill/>
          <a:ln>
            <a:noFill/>
          </a:ln>
        </p:spPr>
        <p:txBody>
          <a:bodyPr wrap="square" anchor="t" lIns="0" rIns="0" tIns="0" bIns="0"/>
          <a:lstStyle/>
          <a:p>
            <a:pPr algn="l" marL="0" indent="0" spcBef="0" spcAft="0">
              <a:buNone/>
            </a:pPr>
            <a:r>
              <a:rPr lang="zh-CN" sz="760">
                <a:solidFill>
                  <a:srgbClr val="7E92AA"/>
                </a:solidFill>
                <a:latin typeface="Aptos"/>
                <a:ea typeface="Microsoft YaHei"/>
              </a:rPr>
              <a:t>标识素材来源：上海交通大学视觉形象识别系统（vi.sjtu.edu.cn）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CONTENTS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一屏看清逻辑路径</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汇报提纲</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01  背景 glass"/>
          <p:cNvSpPr/>
          <p:nvPr/>
        </p:nvSpPr>
        <p:spPr>
          <a:xfrm>
            <a:off x="82296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15" name="01  背景 accent"/>
          <p:cNvSpPr/>
          <p:nvPr/>
        </p:nvSpPr>
        <p:spPr>
          <a:xfrm>
            <a:off x="1024128" y="2990088"/>
            <a:ext cx="329184" cy="41148"/>
          </a:xfrm>
          <a:prstGeom prst="rect">
            <a:avLst/>
          </a:prstGeom>
          <a:solidFill>
            <a:srgbClr val="77E2FF"/>
          </a:solidFill>
          <a:ln>
            <a:noFill/>
          </a:ln>
        </p:spPr>
        <p:txBody>
          <a:bodyPr/>
          <a:lstStyle/>
          <a:p/>
        </p:txBody>
      </p:sp>
      <p:sp>
        <p:nvSpPr>
          <p:cNvPr id="16" name="01  背景 text"/>
          <p:cNvSpPr txBox="1"/>
          <p:nvPr/>
        </p:nvSpPr>
        <p:spPr>
          <a:xfrm>
            <a:off x="1078992"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01  背景</a:t>
            </a:r>
          </a:p>
          <a:p>
            <a:pPr algn="l" marL="457200" indent="-228600" spcBef="0" spcAft="26000">
              <a:buChar char="•"/>
            </a:pPr>
            <a:r>
              <a:rPr lang="zh-CN" sz="920">
                <a:solidFill>
                  <a:srgbClr val="A9B8CC"/>
                </a:solidFill>
                <a:latin typeface="Aptos"/>
                <a:ea typeface="Microsoft YaHei"/>
              </a:rPr>
              <a:t>研究场景与问题提出</a:t>
            </a:r>
          </a:p>
        </p:txBody>
      </p:sp>
      <p:sp>
        <p:nvSpPr>
          <p:cNvPr id="17" name="02  综述 glass"/>
          <p:cNvSpPr/>
          <p:nvPr/>
        </p:nvSpPr>
        <p:spPr>
          <a:xfrm>
            <a:off x="434340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18" name="02  综述 accent"/>
          <p:cNvSpPr/>
          <p:nvPr/>
        </p:nvSpPr>
        <p:spPr>
          <a:xfrm>
            <a:off x="4544568" y="2990088"/>
            <a:ext cx="329184" cy="41148"/>
          </a:xfrm>
          <a:prstGeom prst="rect">
            <a:avLst/>
          </a:prstGeom>
          <a:solidFill>
            <a:srgbClr val="4EA1FF"/>
          </a:solidFill>
          <a:ln>
            <a:noFill/>
          </a:ln>
        </p:spPr>
        <p:txBody>
          <a:bodyPr/>
          <a:lstStyle/>
          <a:p/>
        </p:txBody>
      </p:sp>
      <p:sp>
        <p:nvSpPr>
          <p:cNvPr id="19" name="02  综述 text"/>
          <p:cNvSpPr txBox="1"/>
          <p:nvPr/>
        </p:nvSpPr>
        <p:spPr>
          <a:xfrm>
            <a:off x="4599432"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02  综述</a:t>
            </a:r>
          </a:p>
          <a:p>
            <a:pPr algn="l" marL="457200" indent="-228600" spcBef="0" spcAft="26000">
              <a:buChar char="•"/>
            </a:pPr>
            <a:r>
              <a:rPr lang="zh-CN" sz="920">
                <a:solidFill>
                  <a:srgbClr val="A9B8CC"/>
                </a:solidFill>
                <a:latin typeface="Aptos"/>
                <a:ea typeface="Microsoft YaHei"/>
              </a:rPr>
              <a:t>现有研究与不足</a:t>
            </a:r>
          </a:p>
        </p:txBody>
      </p:sp>
      <p:sp>
        <p:nvSpPr>
          <p:cNvPr id="20" name="03  目标 glass"/>
          <p:cNvSpPr/>
          <p:nvPr/>
        </p:nvSpPr>
        <p:spPr>
          <a:xfrm>
            <a:off x="7863840" y="278892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1" name="03  目标 accent"/>
          <p:cNvSpPr/>
          <p:nvPr/>
        </p:nvSpPr>
        <p:spPr>
          <a:xfrm>
            <a:off x="8065008" y="2990088"/>
            <a:ext cx="329184" cy="41148"/>
          </a:xfrm>
          <a:prstGeom prst="rect">
            <a:avLst/>
          </a:prstGeom>
          <a:solidFill>
            <a:srgbClr val="77E2FF"/>
          </a:solidFill>
          <a:ln>
            <a:noFill/>
          </a:ln>
        </p:spPr>
        <p:txBody>
          <a:bodyPr/>
          <a:lstStyle/>
          <a:p/>
        </p:txBody>
      </p:sp>
      <p:sp>
        <p:nvSpPr>
          <p:cNvPr id="22" name="03  目标 text"/>
          <p:cNvSpPr txBox="1"/>
          <p:nvPr/>
        </p:nvSpPr>
        <p:spPr>
          <a:xfrm>
            <a:off x="8119871" y="3118103"/>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03  目标</a:t>
            </a:r>
          </a:p>
          <a:p>
            <a:pPr algn="l" marL="457200" indent="-228600" spcBef="0" spcAft="26000">
              <a:buChar char="•"/>
            </a:pPr>
            <a:r>
              <a:rPr lang="zh-CN" sz="920">
                <a:solidFill>
                  <a:srgbClr val="A9B8CC"/>
                </a:solidFill>
                <a:latin typeface="Aptos"/>
                <a:ea typeface="Microsoft YaHei"/>
              </a:rPr>
              <a:t>研究内容与创新点</a:t>
            </a:r>
          </a:p>
        </p:txBody>
      </p:sp>
      <p:sp>
        <p:nvSpPr>
          <p:cNvPr id="23" name="04  方法 glass"/>
          <p:cNvSpPr/>
          <p:nvPr/>
        </p:nvSpPr>
        <p:spPr>
          <a:xfrm>
            <a:off x="82296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4" name="04  方法 accent"/>
          <p:cNvSpPr/>
          <p:nvPr/>
        </p:nvSpPr>
        <p:spPr>
          <a:xfrm>
            <a:off x="1024128" y="4407407"/>
            <a:ext cx="329184" cy="41148"/>
          </a:xfrm>
          <a:prstGeom prst="rect">
            <a:avLst/>
          </a:prstGeom>
          <a:solidFill>
            <a:srgbClr val="4EA1FF"/>
          </a:solidFill>
          <a:ln>
            <a:noFill/>
          </a:ln>
        </p:spPr>
        <p:txBody>
          <a:bodyPr/>
          <a:lstStyle/>
          <a:p/>
        </p:txBody>
      </p:sp>
      <p:sp>
        <p:nvSpPr>
          <p:cNvPr id="25" name="04  方法 text"/>
          <p:cNvSpPr txBox="1"/>
          <p:nvPr/>
        </p:nvSpPr>
        <p:spPr>
          <a:xfrm>
            <a:off x="1078992"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04  方法</a:t>
            </a:r>
          </a:p>
          <a:p>
            <a:pPr algn="l" marL="457200" indent="-228600" spcBef="0" spcAft="26000">
              <a:buChar char="•"/>
            </a:pPr>
            <a:r>
              <a:rPr lang="zh-CN" sz="920">
                <a:solidFill>
                  <a:srgbClr val="A9B8CC"/>
                </a:solidFill>
                <a:latin typeface="Aptos"/>
                <a:ea typeface="Microsoft YaHei"/>
              </a:rPr>
              <a:t>技术路线与数据设计</a:t>
            </a:r>
          </a:p>
        </p:txBody>
      </p:sp>
      <p:sp>
        <p:nvSpPr>
          <p:cNvPr id="26" name="05  可行 glass"/>
          <p:cNvSpPr/>
          <p:nvPr/>
        </p:nvSpPr>
        <p:spPr>
          <a:xfrm>
            <a:off x="434340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27" name="05  可行 accent"/>
          <p:cNvSpPr/>
          <p:nvPr/>
        </p:nvSpPr>
        <p:spPr>
          <a:xfrm>
            <a:off x="4544568" y="4407407"/>
            <a:ext cx="329184" cy="41148"/>
          </a:xfrm>
          <a:prstGeom prst="rect">
            <a:avLst/>
          </a:prstGeom>
          <a:solidFill>
            <a:srgbClr val="77E2FF"/>
          </a:solidFill>
          <a:ln>
            <a:noFill/>
          </a:ln>
        </p:spPr>
        <p:txBody>
          <a:bodyPr/>
          <a:lstStyle/>
          <a:p/>
        </p:txBody>
      </p:sp>
      <p:sp>
        <p:nvSpPr>
          <p:cNvPr id="28" name="05  可行 text"/>
          <p:cNvSpPr txBox="1"/>
          <p:nvPr/>
        </p:nvSpPr>
        <p:spPr>
          <a:xfrm>
            <a:off x="4599432"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05  可行</a:t>
            </a:r>
          </a:p>
          <a:p>
            <a:pPr algn="l" marL="457200" indent="-228600" spcBef="0" spcAft="26000">
              <a:buChar char="•"/>
            </a:pPr>
            <a:r>
              <a:rPr lang="zh-CN" sz="920">
                <a:solidFill>
                  <a:srgbClr val="A9B8CC"/>
                </a:solidFill>
                <a:latin typeface="Aptos"/>
                <a:ea typeface="Microsoft YaHei"/>
              </a:rPr>
              <a:t>基础条件与风险控制</a:t>
            </a:r>
          </a:p>
        </p:txBody>
      </p:sp>
      <p:sp>
        <p:nvSpPr>
          <p:cNvPr id="29" name="06  计划 glass"/>
          <p:cNvSpPr/>
          <p:nvPr/>
        </p:nvSpPr>
        <p:spPr>
          <a:xfrm>
            <a:off x="7863840" y="4206240"/>
            <a:ext cx="2971800" cy="1051560"/>
          </a:xfrm>
          <a:prstGeom prst="roundRect">
            <a:avLst/>
          </a:prstGeom>
          <a:solidFill>
            <a:srgbClr val="122A45">
              <a:alpha val="82000"/>
            </a:srgbClr>
          </a:solidFill>
          <a:ln w="6350">
            <a:solidFill>
              <a:srgbClr val="40627F">
                <a:alpha val="68000"/>
              </a:srgbClr>
            </a:solidFill>
          </a:ln>
        </p:spPr>
        <p:txBody>
          <a:bodyPr/>
          <a:lstStyle/>
          <a:p/>
        </p:txBody>
      </p:sp>
      <p:sp>
        <p:nvSpPr>
          <p:cNvPr id="30" name="06  计划 accent"/>
          <p:cNvSpPr/>
          <p:nvPr/>
        </p:nvSpPr>
        <p:spPr>
          <a:xfrm>
            <a:off x="8065008" y="4407407"/>
            <a:ext cx="329184" cy="41148"/>
          </a:xfrm>
          <a:prstGeom prst="rect">
            <a:avLst/>
          </a:prstGeom>
          <a:solidFill>
            <a:srgbClr val="4EA1FF"/>
          </a:solidFill>
          <a:ln>
            <a:noFill/>
          </a:ln>
        </p:spPr>
        <p:txBody>
          <a:bodyPr/>
          <a:lstStyle/>
          <a:p/>
        </p:txBody>
      </p:sp>
      <p:sp>
        <p:nvSpPr>
          <p:cNvPr id="31" name="06  计划 text"/>
          <p:cNvSpPr txBox="1"/>
          <p:nvPr/>
        </p:nvSpPr>
        <p:spPr>
          <a:xfrm>
            <a:off x="8119871" y="4535424"/>
            <a:ext cx="2514600" cy="52120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06  计划</a:t>
            </a:r>
          </a:p>
          <a:p>
            <a:pPr algn="l" marL="457200" indent="-228600" spcBef="0" spcAft="26000">
              <a:buChar char="•"/>
            </a:pPr>
            <a:r>
              <a:rPr lang="zh-CN" sz="920">
                <a:solidFill>
                  <a:srgbClr val="A9B8CC"/>
                </a:solidFill>
                <a:latin typeface="Aptos"/>
                <a:ea typeface="Microsoft YaHei"/>
              </a:rPr>
              <a:t>进度安排与成果预期</a:t>
            </a:r>
          </a:p>
        </p:txBody>
      </p:sp>
      <p:sp>
        <p:nvSpPr>
          <p:cNvPr id="32"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3"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01 / BACKGROUND</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从大叙事收束到可研究的问题</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研究背景与问题提出</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hero statement"/>
          <p:cNvSpPr txBox="1"/>
          <p:nvPr/>
        </p:nvSpPr>
        <p:spPr>
          <a:xfrm>
            <a:off x="841248" y="2743200"/>
            <a:ext cx="6035040" cy="749808"/>
          </a:xfrm>
          <a:prstGeom prst="rect">
            <a:avLst/>
          </a:prstGeom>
          <a:noFill/>
          <a:ln>
            <a:noFill/>
          </a:ln>
        </p:spPr>
        <p:txBody>
          <a:bodyPr wrap="square" anchor="t" lIns="0" rIns="0" tIns="0" bIns="0"/>
          <a:lstStyle/>
          <a:p>
            <a:pPr algn="l" marL="0" indent="0" spcBef="0" spcAft="0">
              <a:buNone/>
            </a:pPr>
            <a:r>
              <a:rPr lang="zh-CN" sz="2150" b="1">
                <a:solidFill>
                  <a:srgbClr val="EAF2FF"/>
                </a:solidFill>
                <a:latin typeface="Aptos"/>
                <a:ea typeface="Microsoft YaHei"/>
              </a:rPr>
              <a:t>一句话说明：为什么这个问题现在值得被研究。</a:t>
            </a:r>
          </a:p>
        </p:txBody>
      </p:sp>
      <p:sp>
        <p:nvSpPr>
          <p:cNvPr id="15" name="hero note"/>
          <p:cNvSpPr txBox="1"/>
          <p:nvPr/>
        </p:nvSpPr>
        <p:spPr>
          <a:xfrm>
            <a:off x="877824" y="3675887"/>
            <a:ext cx="5257800" cy="411480"/>
          </a:xfrm>
          <a:prstGeom prst="rect">
            <a:avLst/>
          </a:prstGeom>
          <a:noFill/>
          <a:ln>
            <a:noFill/>
          </a:ln>
        </p:spPr>
        <p:txBody>
          <a:bodyPr wrap="square" anchor="t" lIns="0" rIns="0" tIns="0" bIns="0"/>
          <a:lstStyle/>
          <a:p>
            <a:pPr algn="l" marL="0" indent="0" spcBef="0" spcAft="0">
              <a:buNone/>
            </a:pPr>
            <a:r>
              <a:rPr lang="zh-CN" sz="1080">
                <a:solidFill>
                  <a:srgbClr val="A9B8CC"/>
                </a:solidFill>
                <a:latin typeface="Aptos"/>
                <a:ea typeface="Microsoft YaHei"/>
              </a:rPr>
              <a:t>建议把背景写成“变化 - 冲突 - 空白 - 本文切入”的链条。</a:t>
            </a:r>
          </a:p>
        </p:txBody>
      </p:sp>
      <p:sp>
        <p:nvSpPr>
          <p:cNvPr id="16" name="现实驱动 glass"/>
          <p:cNvSpPr/>
          <p:nvPr/>
        </p:nvSpPr>
        <p:spPr>
          <a:xfrm>
            <a:off x="7040880" y="2084831"/>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17" name="现实驱动 accent"/>
          <p:cNvSpPr/>
          <p:nvPr/>
        </p:nvSpPr>
        <p:spPr>
          <a:xfrm>
            <a:off x="7242048" y="2286000"/>
            <a:ext cx="329184" cy="41148"/>
          </a:xfrm>
          <a:prstGeom prst="rect">
            <a:avLst/>
          </a:prstGeom>
          <a:solidFill>
            <a:srgbClr val="77E2FF"/>
          </a:solidFill>
          <a:ln>
            <a:noFill/>
          </a:ln>
        </p:spPr>
        <p:txBody>
          <a:bodyPr/>
          <a:lstStyle/>
          <a:p/>
        </p:txBody>
      </p:sp>
      <p:sp>
        <p:nvSpPr>
          <p:cNvPr id="18" name="现实驱动 text"/>
          <p:cNvSpPr txBox="1"/>
          <p:nvPr/>
        </p:nvSpPr>
        <p:spPr>
          <a:xfrm>
            <a:off x="7296912" y="2414015"/>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现实驱动</a:t>
            </a:r>
          </a:p>
          <a:p>
            <a:pPr algn="l" marL="457200" indent="-228600" spcBef="0" spcAft="26000">
              <a:buChar char="•"/>
            </a:pPr>
            <a:r>
              <a:rPr lang="zh-CN" sz="920">
                <a:solidFill>
                  <a:srgbClr val="A9B8CC"/>
                </a:solidFill>
                <a:latin typeface="Aptos"/>
                <a:ea typeface="Microsoft YaHei"/>
              </a:rPr>
              <a:t>行业变化、政策需求、实践痛点</a:t>
            </a:r>
          </a:p>
        </p:txBody>
      </p:sp>
      <p:sp>
        <p:nvSpPr>
          <p:cNvPr id="19" name="理论驱动 glass"/>
          <p:cNvSpPr/>
          <p:nvPr/>
        </p:nvSpPr>
        <p:spPr>
          <a:xfrm>
            <a:off x="7040880" y="3401568"/>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20" name="理论驱动 accent"/>
          <p:cNvSpPr/>
          <p:nvPr/>
        </p:nvSpPr>
        <p:spPr>
          <a:xfrm>
            <a:off x="7242048" y="3602736"/>
            <a:ext cx="329184" cy="41148"/>
          </a:xfrm>
          <a:prstGeom prst="rect">
            <a:avLst/>
          </a:prstGeom>
          <a:solidFill>
            <a:srgbClr val="4EA1FF"/>
          </a:solidFill>
          <a:ln>
            <a:noFill/>
          </a:ln>
        </p:spPr>
        <p:txBody>
          <a:bodyPr/>
          <a:lstStyle/>
          <a:p/>
        </p:txBody>
      </p:sp>
      <p:sp>
        <p:nvSpPr>
          <p:cNvPr id="21" name="理论驱动 text"/>
          <p:cNvSpPr txBox="1"/>
          <p:nvPr/>
        </p:nvSpPr>
        <p:spPr>
          <a:xfrm>
            <a:off x="7296912" y="3730752"/>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理论驱动</a:t>
            </a:r>
          </a:p>
          <a:p>
            <a:pPr algn="l" marL="457200" indent="-228600" spcBef="0" spcAft="26000">
              <a:buChar char="•"/>
            </a:pPr>
            <a:r>
              <a:rPr lang="zh-CN" sz="920">
                <a:solidFill>
                  <a:srgbClr val="A9B8CC"/>
                </a:solidFill>
                <a:latin typeface="Aptos"/>
                <a:ea typeface="Microsoft YaHei"/>
              </a:rPr>
              <a:t>已有理论解释边界、争议焦点</a:t>
            </a:r>
          </a:p>
        </p:txBody>
      </p:sp>
      <p:sp>
        <p:nvSpPr>
          <p:cNvPr id="22" name="研究问题 glass"/>
          <p:cNvSpPr/>
          <p:nvPr/>
        </p:nvSpPr>
        <p:spPr>
          <a:xfrm>
            <a:off x="7040880" y="4718304"/>
            <a:ext cx="3840480" cy="1005840"/>
          </a:xfrm>
          <a:prstGeom prst="roundRect">
            <a:avLst/>
          </a:prstGeom>
          <a:solidFill>
            <a:srgbClr val="122A45">
              <a:alpha val="82000"/>
            </a:srgbClr>
          </a:solidFill>
          <a:ln w="6350">
            <a:solidFill>
              <a:srgbClr val="40627F">
                <a:alpha val="68000"/>
              </a:srgbClr>
            </a:solidFill>
          </a:ln>
        </p:spPr>
        <p:txBody>
          <a:bodyPr/>
          <a:lstStyle/>
          <a:p/>
        </p:txBody>
      </p:sp>
      <p:sp>
        <p:nvSpPr>
          <p:cNvPr id="23" name="研究问题 accent"/>
          <p:cNvSpPr/>
          <p:nvPr/>
        </p:nvSpPr>
        <p:spPr>
          <a:xfrm>
            <a:off x="7242048" y="4919472"/>
            <a:ext cx="329184" cy="41148"/>
          </a:xfrm>
          <a:prstGeom prst="rect">
            <a:avLst/>
          </a:prstGeom>
          <a:solidFill>
            <a:srgbClr val="C8A45D"/>
          </a:solidFill>
          <a:ln>
            <a:noFill/>
          </a:ln>
        </p:spPr>
        <p:txBody>
          <a:bodyPr/>
          <a:lstStyle/>
          <a:p/>
        </p:txBody>
      </p:sp>
      <p:sp>
        <p:nvSpPr>
          <p:cNvPr id="24" name="研究问题 text"/>
          <p:cNvSpPr txBox="1"/>
          <p:nvPr/>
        </p:nvSpPr>
        <p:spPr>
          <a:xfrm>
            <a:off x="7296912" y="5047488"/>
            <a:ext cx="3383280" cy="475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研究问题</a:t>
            </a:r>
          </a:p>
          <a:p>
            <a:pPr algn="l" marL="457200" indent="-228600" spcBef="0" spcAft="26000">
              <a:buChar char="•"/>
            </a:pPr>
            <a:r>
              <a:rPr lang="zh-CN" sz="920">
                <a:solidFill>
                  <a:srgbClr val="A9B8CC"/>
                </a:solidFill>
                <a:latin typeface="Aptos"/>
                <a:ea typeface="Microsoft YaHei"/>
              </a:rPr>
              <a:t>本文聚焦的对象、范围与核心问题</a:t>
            </a:r>
          </a:p>
        </p:txBody>
      </p:sp>
      <p:sp>
        <p:nvSpPr>
          <p:cNvPr id="25"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6"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02 / GAP</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少堆作者，多画结构</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文献综述与研究空白</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cxnSp>
        <p:nvCxnSpPr>
          <p:cNvPr id="14" name="literature axis"/>
          <p:cNvCxnSpPr/>
          <p:nvPr/>
        </p:nvCxnSpPr>
        <p:spPr>
          <a:xfrm>
            <a:off x="987552" y="3273552"/>
            <a:ext cx="9710928" cy="0"/>
          </a:xfrm>
          <a:prstGeom prst="line">
            <a:avLst/>
          </a:prstGeom>
          <a:ln w="12700">
            <a:solidFill>
              <a:srgbClr val="34516F"/>
            </a:solidFill>
          </a:ln>
        </p:spPr>
      </p:cxnSp>
      <p:sp>
        <p:nvSpPr>
          <p:cNvPr id="15" name="timeline point 0"/>
          <p:cNvSpPr/>
          <p:nvPr/>
        </p:nvSpPr>
        <p:spPr>
          <a:xfrm>
            <a:off x="987552" y="3136392"/>
            <a:ext cx="274320" cy="274320"/>
          </a:xfrm>
          <a:prstGeom prst="ellipse">
            <a:avLst/>
          </a:prstGeom>
          <a:solidFill>
            <a:srgbClr val="4EA1FF"/>
          </a:solidFill>
          <a:ln>
            <a:noFill/>
          </a:ln>
        </p:spPr>
        <p:txBody>
          <a:bodyPr/>
          <a:lstStyle/>
          <a:p/>
        </p:txBody>
      </p:sp>
      <p:sp>
        <p:nvSpPr>
          <p:cNvPr id="16" name="timeline head 0"/>
          <p:cNvSpPr txBox="1"/>
          <p:nvPr/>
        </p:nvSpPr>
        <p:spPr>
          <a:xfrm>
            <a:off x="8503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主题一</a:t>
            </a:r>
          </a:p>
        </p:txBody>
      </p:sp>
      <p:sp>
        <p:nvSpPr>
          <p:cNvPr id="17" name="timeline body 0"/>
          <p:cNvSpPr txBox="1"/>
          <p:nvPr/>
        </p:nvSpPr>
        <p:spPr>
          <a:xfrm>
            <a:off x="8503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核心结论</a:t>
            </a:r>
          </a:p>
          <a:p>
            <a:pPr algn="l" marL="0" indent="0" spcBef="0" spcAft="0">
              <a:buNone/>
            </a:pPr>
            <a:r>
              <a:rPr lang="zh-CN" sz="820">
                <a:solidFill>
                  <a:srgbClr val="7E92AA"/>
                </a:solidFill>
                <a:latin typeface="Aptos"/>
                <a:ea typeface="Microsoft YaHei"/>
              </a:rPr>
              <a:t>可填代表文献</a:t>
            </a:r>
          </a:p>
        </p:txBody>
      </p:sp>
      <p:sp>
        <p:nvSpPr>
          <p:cNvPr id="18" name="timeline point 1"/>
          <p:cNvSpPr/>
          <p:nvPr/>
        </p:nvSpPr>
        <p:spPr>
          <a:xfrm>
            <a:off x="3502152" y="3136392"/>
            <a:ext cx="274320" cy="274320"/>
          </a:xfrm>
          <a:prstGeom prst="ellipse">
            <a:avLst/>
          </a:prstGeom>
          <a:solidFill>
            <a:srgbClr val="4EA1FF"/>
          </a:solidFill>
          <a:ln>
            <a:noFill/>
          </a:ln>
        </p:spPr>
        <p:txBody>
          <a:bodyPr/>
          <a:lstStyle/>
          <a:p/>
        </p:txBody>
      </p:sp>
      <p:sp>
        <p:nvSpPr>
          <p:cNvPr id="19" name="timeline head 1"/>
          <p:cNvSpPr txBox="1"/>
          <p:nvPr/>
        </p:nvSpPr>
        <p:spPr>
          <a:xfrm>
            <a:off x="33649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主题二</a:t>
            </a:r>
          </a:p>
        </p:txBody>
      </p:sp>
      <p:sp>
        <p:nvSpPr>
          <p:cNvPr id="20" name="timeline body 1"/>
          <p:cNvSpPr txBox="1"/>
          <p:nvPr/>
        </p:nvSpPr>
        <p:spPr>
          <a:xfrm>
            <a:off x="33649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方法演进</a:t>
            </a:r>
          </a:p>
          <a:p>
            <a:pPr algn="l" marL="0" indent="0" spcBef="0" spcAft="0">
              <a:buNone/>
            </a:pPr>
            <a:r>
              <a:rPr lang="zh-CN" sz="820">
                <a:solidFill>
                  <a:srgbClr val="7E92AA"/>
                </a:solidFill>
                <a:latin typeface="Aptos"/>
                <a:ea typeface="Microsoft YaHei"/>
              </a:rPr>
              <a:t>可填数据/模型</a:t>
            </a:r>
          </a:p>
        </p:txBody>
      </p:sp>
      <p:sp>
        <p:nvSpPr>
          <p:cNvPr id="21" name="timeline point 2"/>
          <p:cNvSpPr/>
          <p:nvPr/>
        </p:nvSpPr>
        <p:spPr>
          <a:xfrm>
            <a:off x="6016752" y="3136392"/>
            <a:ext cx="274320" cy="274320"/>
          </a:xfrm>
          <a:prstGeom prst="ellipse">
            <a:avLst/>
          </a:prstGeom>
          <a:solidFill>
            <a:srgbClr val="4EA1FF"/>
          </a:solidFill>
          <a:ln>
            <a:noFill/>
          </a:ln>
        </p:spPr>
        <p:txBody>
          <a:bodyPr/>
          <a:lstStyle/>
          <a:p/>
        </p:txBody>
      </p:sp>
      <p:sp>
        <p:nvSpPr>
          <p:cNvPr id="22" name="timeline head 2"/>
          <p:cNvSpPr txBox="1"/>
          <p:nvPr/>
        </p:nvSpPr>
        <p:spPr>
          <a:xfrm>
            <a:off x="58795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主题三</a:t>
            </a:r>
          </a:p>
        </p:txBody>
      </p:sp>
      <p:sp>
        <p:nvSpPr>
          <p:cNvPr id="23" name="timeline body 2"/>
          <p:cNvSpPr txBox="1"/>
          <p:nvPr/>
        </p:nvSpPr>
        <p:spPr>
          <a:xfrm>
            <a:off x="58795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争议焦点</a:t>
            </a:r>
          </a:p>
          <a:p>
            <a:pPr algn="l" marL="0" indent="0" spcBef="0" spcAft="0">
              <a:buNone/>
            </a:pPr>
            <a:r>
              <a:rPr lang="zh-CN" sz="820">
                <a:solidFill>
                  <a:srgbClr val="7E92AA"/>
                </a:solidFill>
                <a:latin typeface="Aptos"/>
                <a:ea typeface="Microsoft YaHei"/>
              </a:rPr>
              <a:t>可填相反观点</a:t>
            </a:r>
          </a:p>
        </p:txBody>
      </p:sp>
      <p:sp>
        <p:nvSpPr>
          <p:cNvPr id="24" name="timeline point 3"/>
          <p:cNvSpPr/>
          <p:nvPr/>
        </p:nvSpPr>
        <p:spPr>
          <a:xfrm>
            <a:off x="8531352" y="3136392"/>
            <a:ext cx="274320" cy="274320"/>
          </a:xfrm>
          <a:prstGeom prst="ellipse">
            <a:avLst/>
          </a:prstGeom>
          <a:solidFill>
            <a:srgbClr val="77E2FF"/>
          </a:solidFill>
          <a:ln>
            <a:noFill/>
          </a:ln>
        </p:spPr>
        <p:txBody>
          <a:bodyPr/>
          <a:lstStyle/>
          <a:p/>
        </p:txBody>
      </p:sp>
      <p:sp>
        <p:nvSpPr>
          <p:cNvPr id="25" name="timeline head 3"/>
          <p:cNvSpPr txBox="1"/>
          <p:nvPr/>
        </p:nvSpPr>
        <p:spPr>
          <a:xfrm>
            <a:off x="8394192" y="2286000"/>
            <a:ext cx="1691640" cy="256032"/>
          </a:xfrm>
          <a:prstGeom prst="rect">
            <a:avLst/>
          </a:prstGeom>
          <a:noFill/>
          <a:ln>
            <a:noFill/>
          </a:ln>
        </p:spPr>
        <p:txBody>
          <a:bodyPr wrap="square" anchor="t" lIns="0" rIns="0" tIns="0" bIns="0"/>
          <a:lstStyle/>
          <a:p>
            <a:pPr algn="l" marL="0" indent="0" spcBef="0" spcAft="0">
              <a:buNone/>
            </a:pPr>
            <a:r>
              <a:rPr lang="zh-CN" sz="1050" b="1">
                <a:solidFill>
                  <a:srgbClr val="EAF2FF"/>
                </a:solidFill>
                <a:latin typeface="Aptos"/>
                <a:ea typeface="Microsoft YaHei"/>
              </a:rPr>
              <a:t>空白</a:t>
            </a:r>
          </a:p>
        </p:txBody>
      </p:sp>
      <p:sp>
        <p:nvSpPr>
          <p:cNvPr id="26" name="timeline body 3"/>
          <p:cNvSpPr txBox="1"/>
          <p:nvPr/>
        </p:nvSpPr>
        <p:spPr>
          <a:xfrm>
            <a:off x="8394192" y="3657600"/>
            <a:ext cx="1783080" cy="475488"/>
          </a:xfrm>
          <a:prstGeom prst="rect">
            <a:avLst/>
          </a:prstGeom>
          <a:noFill/>
          <a:ln>
            <a:noFill/>
          </a:ln>
        </p:spPr>
        <p:txBody>
          <a:bodyPr wrap="square" anchor="t" lIns="0" rIns="0" tIns="0" bIns="0"/>
          <a:lstStyle/>
          <a:p>
            <a:pPr algn="l" marL="0" indent="0" spcBef="0" spcAft="0">
              <a:buNone/>
            </a:pPr>
            <a:r>
              <a:rPr lang="zh-CN" sz="900">
                <a:solidFill>
                  <a:srgbClr val="A9B8CC"/>
                </a:solidFill>
                <a:latin typeface="Aptos"/>
                <a:ea typeface="Microsoft YaHei"/>
              </a:rPr>
              <a:t>本文切入</a:t>
            </a:r>
          </a:p>
          <a:p>
            <a:pPr algn="l" marL="0" indent="0" spcBef="0" spcAft="0">
              <a:buNone/>
            </a:pPr>
            <a:r>
              <a:rPr lang="zh-CN" sz="820">
                <a:solidFill>
                  <a:srgbClr val="7E92AA"/>
                </a:solidFill>
                <a:latin typeface="Aptos"/>
                <a:ea typeface="Microsoft YaHei"/>
              </a:rPr>
              <a:t>明确不足</a:t>
            </a:r>
          </a:p>
        </p:txBody>
      </p:sp>
      <p:sp>
        <p:nvSpPr>
          <p:cNvPr id="27" name="gap panel"/>
          <p:cNvSpPr/>
          <p:nvPr/>
        </p:nvSpPr>
        <p:spPr>
          <a:xfrm>
            <a:off x="914400" y="4983480"/>
            <a:ext cx="10012680" cy="658368"/>
          </a:xfrm>
          <a:prstGeom prst="roundRect">
            <a:avLst/>
          </a:prstGeom>
          <a:solidFill>
            <a:srgbClr val="16375A">
              <a:alpha val="78000"/>
            </a:srgbClr>
          </a:solidFill>
          <a:ln w="6350">
            <a:solidFill>
              <a:srgbClr val="3B6388"/>
            </a:solidFill>
          </a:ln>
        </p:spPr>
        <p:txBody>
          <a:bodyPr/>
          <a:lstStyle/>
          <a:p/>
        </p:txBody>
      </p:sp>
      <p:sp>
        <p:nvSpPr>
          <p:cNvPr id="28" name="gap text"/>
          <p:cNvSpPr txBox="1"/>
          <p:nvPr/>
        </p:nvSpPr>
        <p:spPr>
          <a:xfrm>
            <a:off x="1133856" y="5157216"/>
            <a:ext cx="9326880" cy="201168"/>
          </a:xfrm>
          <a:prstGeom prst="rect">
            <a:avLst/>
          </a:prstGeom>
          <a:noFill/>
          <a:ln>
            <a:noFill/>
          </a:ln>
        </p:spPr>
        <p:txBody>
          <a:bodyPr wrap="square" anchor="t" lIns="0" rIns="0" tIns="0" bIns="0"/>
          <a:lstStyle/>
          <a:p>
            <a:pPr algn="ctr" marL="0" indent="0" spcBef="0" spcAft="0">
              <a:buNone/>
            </a:pPr>
            <a:r>
              <a:rPr lang="zh-CN" sz="1080" b="1">
                <a:solidFill>
                  <a:srgbClr val="DDEBFF"/>
                </a:solidFill>
                <a:latin typeface="Aptos"/>
                <a:ea typeface="Microsoft YaHei"/>
              </a:rPr>
              <a:t>研究空白：请用一句话写清“已有研究尚未解释/验证/解决什么”。</a:t>
            </a:r>
          </a:p>
        </p:txBody>
      </p:sp>
      <p:sp>
        <p:nvSpPr>
          <p:cNvPr id="29"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0"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03 / OBJECTIVES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把目标写得可检验、可完成</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研究目标、内容与创新点</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stat 01"/>
          <p:cNvSpPr/>
          <p:nvPr/>
        </p:nvSpPr>
        <p:spPr>
          <a:xfrm>
            <a:off x="8686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15" name="stat num 01"/>
          <p:cNvSpPr txBox="1"/>
          <p:nvPr/>
        </p:nvSpPr>
        <p:spPr>
          <a:xfrm>
            <a:off x="10698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77E2FF"/>
                </a:solidFill>
                <a:latin typeface="Aptos"/>
                <a:ea typeface="Microsoft YaHei"/>
              </a:rPr>
              <a:t>01</a:t>
            </a:r>
          </a:p>
        </p:txBody>
      </p:sp>
      <p:sp>
        <p:nvSpPr>
          <p:cNvPr id="16" name="stat label 01"/>
          <p:cNvSpPr txBox="1"/>
          <p:nvPr/>
        </p:nvSpPr>
        <p:spPr>
          <a:xfrm>
            <a:off x="18928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研究目标</a:t>
            </a:r>
          </a:p>
        </p:txBody>
      </p:sp>
      <p:sp>
        <p:nvSpPr>
          <p:cNvPr id="17" name="stat note 01"/>
          <p:cNvSpPr txBox="1"/>
          <p:nvPr/>
        </p:nvSpPr>
        <p:spPr>
          <a:xfrm>
            <a:off x="10881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回答核心问题</a:t>
            </a:r>
          </a:p>
        </p:txBody>
      </p:sp>
      <p:sp>
        <p:nvSpPr>
          <p:cNvPr id="18" name="stat 02"/>
          <p:cNvSpPr/>
          <p:nvPr/>
        </p:nvSpPr>
        <p:spPr>
          <a:xfrm>
            <a:off x="36118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19" name="stat num 02"/>
          <p:cNvSpPr txBox="1"/>
          <p:nvPr/>
        </p:nvSpPr>
        <p:spPr>
          <a:xfrm>
            <a:off x="38130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4EA1FF"/>
                </a:solidFill>
                <a:latin typeface="Aptos"/>
                <a:ea typeface="Microsoft YaHei"/>
              </a:rPr>
              <a:t>02</a:t>
            </a:r>
          </a:p>
        </p:txBody>
      </p:sp>
      <p:sp>
        <p:nvSpPr>
          <p:cNvPr id="20" name="stat label 02"/>
          <p:cNvSpPr txBox="1"/>
          <p:nvPr/>
        </p:nvSpPr>
        <p:spPr>
          <a:xfrm>
            <a:off x="46360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研究内容</a:t>
            </a:r>
          </a:p>
        </p:txBody>
      </p:sp>
      <p:sp>
        <p:nvSpPr>
          <p:cNvPr id="21" name="stat note 02"/>
          <p:cNvSpPr txBox="1"/>
          <p:nvPr/>
        </p:nvSpPr>
        <p:spPr>
          <a:xfrm>
            <a:off x="38313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拆成三项任务</a:t>
            </a:r>
          </a:p>
        </p:txBody>
      </p:sp>
      <p:sp>
        <p:nvSpPr>
          <p:cNvPr id="22" name="stat 03"/>
          <p:cNvSpPr/>
          <p:nvPr/>
        </p:nvSpPr>
        <p:spPr>
          <a:xfrm>
            <a:off x="6355080" y="2743200"/>
            <a:ext cx="2304288" cy="1207008"/>
          </a:xfrm>
          <a:prstGeom prst="roundRect">
            <a:avLst/>
          </a:prstGeom>
          <a:solidFill>
            <a:srgbClr val="16375A">
              <a:alpha val="76000"/>
            </a:srgbClr>
          </a:solidFill>
          <a:ln w="6350">
            <a:solidFill>
              <a:srgbClr val="3B6388">
                <a:alpha val="62000"/>
              </a:srgbClr>
            </a:solidFill>
          </a:ln>
        </p:spPr>
        <p:txBody>
          <a:bodyPr/>
          <a:lstStyle/>
          <a:p/>
        </p:txBody>
      </p:sp>
      <p:sp>
        <p:nvSpPr>
          <p:cNvPr id="23" name="stat num 03"/>
          <p:cNvSpPr txBox="1"/>
          <p:nvPr/>
        </p:nvSpPr>
        <p:spPr>
          <a:xfrm>
            <a:off x="6556248" y="2926080"/>
            <a:ext cx="914400" cy="402336"/>
          </a:xfrm>
          <a:prstGeom prst="rect">
            <a:avLst/>
          </a:prstGeom>
          <a:noFill/>
          <a:ln>
            <a:noFill/>
          </a:ln>
        </p:spPr>
        <p:txBody>
          <a:bodyPr wrap="square" anchor="t" lIns="0" rIns="0" tIns="0" bIns="0"/>
          <a:lstStyle/>
          <a:p>
            <a:pPr algn="l" marL="0" indent="0" spcBef="0" spcAft="0">
              <a:buNone/>
            </a:pPr>
            <a:r>
              <a:rPr lang="zh-CN" sz="2300" b="1">
                <a:solidFill>
                  <a:srgbClr val="C8A45D"/>
                </a:solidFill>
                <a:latin typeface="Aptos"/>
                <a:ea typeface="Microsoft YaHei"/>
              </a:rPr>
              <a:t>03</a:t>
            </a:r>
          </a:p>
        </p:txBody>
      </p:sp>
      <p:sp>
        <p:nvSpPr>
          <p:cNvPr id="24" name="stat label 03"/>
          <p:cNvSpPr txBox="1"/>
          <p:nvPr/>
        </p:nvSpPr>
        <p:spPr>
          <a:xfrm>
            <a:off x="7379208" y="2953512"/>
            <a:ext cx="1051560" cy="219456"/>
          </a:xfrm>
          <a:prstGeom prst="rect">
            <a:avLst/>
          </a:prstGeom>
          <a:noFill/>
          <a:ln>
            <a:noFill/>
          </a:ln>
        </p:spPr>
        <p:txBody>
          <a:bodyPr wrap="square" anchor="t" lIns="0" rIns="0" tIns="0" bIns="0"/>
          <a:lstStyle/>
          <a:p>
            <a:pPr algn="l" marL="0" indent="0" spcBef="0" spcAft="0">
              <a:buNone/>
            </a:pPr>
            <a:r>
              <a:rPr lang="zh-CN" sz="950" b="1">
                <a:solidFill>
                  <a:srgbClr val="EAF2FF"/>
                </a:solidFill>
                <a:latin typeface="Aptos"/>
                <a:ea typeface="Microsoft YaHei"/>
              </a:rPr>
              <a:t>创新点</a:t>
            </a:r>
          </a:p>
        </p:txBody>
      </p:sp>
      <p:sp>
        <p:nvSpPr>
          <p:cNvPr id="25" name="stat note 03"/>
          <p:cNvSpPr txBox="1"/>
          <p:nvPr/>
        </p:nvSpPr>
        <p:spPr>
          <a:xfrm>
            <a:off x="6574536" y="3493008"/>
            <a:ext cx="1828800" cy="219456"/>
          </a:xfrm>
          <a:prstGeom prst="rect">
            <a:avLst/>
          </a:prstGeom>
          <a:noFill/>
          <a:ln>
            <a:noFill/>
          </a:ln>
        </p:spPr>
        <p:txBody>
          <a:bodyPr wrap="square" anchor="t" lIns="0" rIns="0" tIns="0" bIns="0"/>
          <a:lstStyle/>
          <a:p>
            <a:pPr algn="l" marL="0" indent="0" spcBef="0" spcAft="0">
              <a:buNone/>
            </a:pPr>
            <a:r>
              <a:rPr lang="zh-CN" sz="760">
                <a:solidFill>
                  <a:srgbClr val="A9B8CC"/>
                </a:solidFill>
                <a:latin typeface="Aptos"/>
                <a:ea typeface="Microsoft YaHei"/>
              </a:rPr>
              <a:t>说明新增贡献</a:t>
            </a:r>
          </a:p>
        </p:txBody>
      </p:sp>
      <p:sp>
        <p:nvSpPr>
          <p:cNvPr id="26" name="objective body"/>
          <p:cNvSpPr txBox="1"/>
          <p:nvPr/>
        </p:nvSpPr>
        <p:spPr>
          <a:xfrm>
            <a:off x="960120" y="4681728"/>
            <a:ext cx="6949440" cy="822960"/>
          </a:xfrm>
          <a:prstGeom prst="rect">
            <a:avLst/>
          </a:prstGeom>
          <a:noFill/>
          <a:ln>
            <a:noFill/>
          </a:ln>
        </p:spPr>
        <p:txBody>
          <a:bodyPr wrap="square" anchor="t" lIns="0" rIns="0" tIns="0" bIns="0"/>
          <a:lstStyle/>
          <a:p>
            <a:pPr algn="l" marL="0" indent="0" spcBef="0" spcAft="50000">
              <a:buNone/>
            </a:pPr>
            <a:r>
              <a:rPr lang="zh-CN" sz="1150" b="1">
                <a:solidFill>
                  <a:srgbClr val="EAF2FF"/>
                </a:solidFill>
                <a:latin typeface="Aptos"/>
                <a:ea typeface="Microsoft YaHei"/>
              </a:rPr>
              <a:t>示例写法</a:t>
            </a:r>
          </a:p>
          <a:p>
            <a:pPr algn="l" marL="457200" indent="-228600" spcBef="0" spcAft="26000">
              <a:buChar char="•"/>
            </a:pPr>
            <a:r>
              <a:rPr lang="zh-CN" sz="980">
                <a:solidFill>
                  <a:srgbClr val="A9B8CC"/>
                </a:solidFill>
                <a:latin typeface="Aptos"/>
                <a:ea typeface="Microsoft YaHei"/>
              </a:rPr>
              <a:t>构建/验证一个可解释的分析框架</a:t>
            </a:r>
          </a:p>
          <a:p>
            <a:pPr algn="l" marL="457200" indent="-228600" spcBef="0" spcAft="26000">
              <a:buChar char="•"/>
            </a:pPr>
            <a:r>
              <a:rPr lang="zh-CN" sz="980">
                <a:solidFill>
                  <a:srgbClr val="A9B8CC"/>
                </a:solidFill>
                <a:latin typeface="Aptos"/>
                <a:ea typeface="Microsoft YaHei"/>
              </a:rPr>
              <a:t>基于数据、实验或案例形成证据链</a:t>
            </a:r>
          </a:p>
          <a:p>
            <a:pPr algn="l" marL="457200" indent="-228600" spcBef="0" spcAft="26000">
              <a:buChar char="•"/>
            </a:pPr>
            <a:r>
              <a:rPr lang="zh-CN" sz="980">
                <a:solidFill>
                  <a:srgbClr val="A9B8CC"/>
                </a:solidFill>
                <a:latin typeface="Aptos"/>
                <a:ea typeface="Microsoft YaHei"/>
              </a:rPr>
              <a:t>给出理论贡献与实践启示的边界</a:t>
            </a:r>
          </a:p>
        </p:txBody>
      </p:sp>
      <p:sp>
        <p:nvSpPr>
          <p:cNvPr id="27"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8"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04 / METHOD</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从输入到输出保持一条线</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研究方法与技术路线</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flow 0"/>
          <p:cNvSpPr/>
          <p:nvPr/>
        </p:nvSpPr>
        <p:spPr>
          <a:xfrm>
            <a:off x="841248" y="2907792"/>
            <a:ext cx="1627632" cy="950976"/>
          </a:xfrm>
          <a:prstGeom prst="roundRect">
            <a:avLst/>
          </a:prstGeom>
          <a:solidFill>
            <a:srgbClr val="122A45">
              <a:alpha val="84000"/>
            </a:srgbClr>
          </a:solidFill>
          <a:ln w="6350">
            <a:solidFill>
              <a:srgbClr val="426D91"/>
            </a:solidFill>
          </a:ln>
        </p:spPr>
        <p:txBody>
          <a:bodyPr/>
          <a:lstStyle/>
          <a:p/>
        </p:txBody>
      </p:sp>
      <p:sp>
        <p:nvSpPr>
          <p:cNvPr id="15" name="flow head 0"/>
          <p:cNvSpPr txBox="1"/>
          <p:nvPr/>
        </p:nvSpPr>
        <p:spPr>
          <a:xfrm>
            <a:off x="969264"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问题界定</a:t>
            </a:r>
          </a:p>
        </p:txBody>
      </p:sp>
      <p:sp>
        <p:nvSpPr>
          <p:cNvPr id="16" name="flow desc 0"/>
          <p:cNvSpPr txBox="1"/>
          <p:nvPr/>
        </p:nvSpPr>
        <p:spPr>
          <a:xfrm>
            <a:off x="1005840"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概念/变量</a:t>
            </a:r>
          </a:p>
        </p:txBody>
      </p:sp>
      <p:cxnSp>
        <p:nvCxnSpPr>
          <p:cNvPr id="18" name="flow connector 0"/>
          <p:cNvCxnSpPr/>
          <p:nvPr/>
        </p:nvCxnSpPr>
        <p:spPr>
          <a:xfrm>
            <a:off x="2523744" y="3383280"/>
            <a:ext cx="310896" cy="0"/>
          </a:xfrm>
          <a:prstGeom prst="line">
            <a:avLst/>
          </a:prstGeom>
          <a:ln w="12700">
            <a:solidFill>
              <a:srgbClr val="77E2FF"/>
            </a:solidFill>
          </a:ln>
        </p:spPr>
      </p:cxnSp>
      <p:sp>
        <p:nvSpPr>
          <p:cNvPr id="19" name="flow 1"/>
          <p:cNvSpPr/>
          <p:nvPr/>
        </p:nvSpPr>
        <p:spPr>
          <a:xfrm>
            <a:off x="2962656" y="2907792"/>
            <a:ext cx="1627632" cy="950976"/>
          </a:xfrm>
          <a:prstGeom prst="roundRect">
            <a:avLst/>
          </a:prstGeom>
          <a:solidFill>
            <a:srgbClr val="122A45">
              <a:alpha val="84000"/>
            </a:srgbClr>
          </a:solidFill>
          <a:ln w="6350">
            <a:solidFill>
              <a:srgbClr val="426D91"/>
            </a:solidFill>
          </a:ln>
        </p:spPr>
        <p:txBody>
          <a:bodyPr/>
          <a:lstStyle/>
          <a:p/>
        </p:txBody>
      </p:sp>
      <p:sp>
        <p:nvSpPr>
          <p:cNvPr id="20" name="flow head 1"/>
          <p:cNvSpPr txBox="1"/>
          <p:nvPr/>
        </p:nvSpPr>
        <p:spPr>
          <a:xfrm>
            <a:off x="3090672"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数据材料</a:t>
            </a:r>
          </a:p>
        </p:txBody>
      </p:sp>
      <p:sp>
        <p:nvSpPr>
          <p:cNvPr id="21" name="flow desc 1"/>
          <p:cNvSpPr txBox="1"/>
          <p:nvPr/>
        </p:nvSpPr>
        <p:spPr>
          <a:xfrm>
            <a:off x="3127248"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样本/来源</a:t>
            </a:r>
          </a:p>
        </p:txBody>
      </p:sp>
      <p:cxnSp>
        <p:nvCxnSpPr>
          <p:cNvPr id="23" name="flow connector 1"/>
          <p:cNvCxnSpPr/>
          <p:nvPr/>
        </p:nvCxnSpPr>
        <p:spPr>
          <a:xfrm>
            <a:off x="4645152" y="3383280"/>
            <a:ext cx="310896" cy="0"/>
          </a:xfrm>
          <a:prstGeom prst="line">
            <a:avLst/>
          </a:prstGeom>
          <a:ln w="12700">
            <a:solidFill>
              <a:srgbClr val="77E2FF"/>
            </a:solidFill>
          </a:ln>
        </p:spPr>
      </p:cxnSp>
      <p:sp>
        <p:nvSpPr>
          <p:cNvPr id="24" name="flow 2"/>
          <p:cNvSpPr/>
          <p:nvPr/>
        </p:nvSpPr>
        <p:spPr>
          <a:xfrm>
            <a:off x="5084064" y="2907792"/>
            <a:ext cx="1627632" cy="950976"/>
          </a:xfrm>
          <a:prstGeom prst="roundRect">
            <a:avLst/>
          </a:prstGeom>
          <a:solidFill>
            <a:srgbClr val="122A45">
              <a:alpha val="84000"/>
            </a:srgbClr>
          </a:solidFill>
          <a:ln w="6350">
            <a:solidFill>
              <a:srgbClr val="426D91"/>
            </a:solidFill>
          </a:ln>
        </p:spPr>
        <p:txBody>
          <a:bodyPr/>
          <a:lstStyle/>
          <a:p/>
        </p:txBody>
      </p:sp>
      <p:sp>
        <p:nvSpPr>
          <p:cNvPr id="25" name="flow head 2"/>
          <p:cNvSpPr txBox="1"/>
          <p:nvPr/>
        </p:nvSpPr>
        <p:spPr>
          <a:xfrm>
            <a:off x="5212079"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方法模型</a:t>
            </a:r>
          </a:p>
        </p:txBody>
      </p:sp>
      <p:sp>
        <p:nvSpPr>
          <p:cNvPr id="26" name="flow desc 2"/>
          <p:cNvSpPr txBox="1"/>
          <p:nvPr/>
        </p:nvSpPr>
        <p:spPr>
          <a:xfrm>
            <a:off x="5248655"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识别/实验</a:t>
            </a:r>
          </a:p>
        </p:txBody>
      </p:sp>
      <p:cxnSp>
        <p:nvCxnSpPr>
          <p:cNvPr id="28" name="flow connector 2"/>
          <p:cNvCxnSpPr/>
          <p:nvPr/>
        </p:nvCxnSpPr>
        <p:spPr>
          <a:xfrm>
            <a:off x="6766559" y="3383280"/>
            <a:ext cx="310897" cy="0"/>
          </a:xfrm>
          <a:prstGeom prst="line">
            <a:avLst/>
          </a:prstGeom>
          <a:ln w="12700">
            <a:solidFill>
              <a:srgbClr val="77E2FF"/>
            </a:solidFill>
          </a:ln>
        </p:spPr>
      </p:cxnSp>
      <p:sp>
        <p:nvSpPr>
          <p:cNvPr id="29" name="flow 3"/>
          <p:cNvSpPr/>
          <p:nvPr/>
        </p:nvSpPr>
        <p:spPr>
          <a:xfrm>
            <a:off x="7205471" y="2907792"/>
            <a:ext cx="1627632" cy="950976"/>
          </a:xfrm>
          <a:prstGeom prst="roundRect">
            <a:avLst/>
          </a:prstGeom>
          <a:solidFill>
            <a:srgbClr val="122A45">
              <a:alpha val="84000"/>
            </a:srgbClr>
          </a:solidFill>
          <a:ln w="6350">
            <a:solidFill>
              <a:srgbClr val="426D91"/>
            </a:solidFill>
          </a:ln>
        </p:spPr>
        <p:txBody>
          <a:bodyPr/>
          <a:lstStyle/>
          <a:p/>
        </p:txBody>
      </p:sp>
      <p:sp>
        <p:nvSpPr>
          <p:cNvPr id="30" name="flow head 3"/>
          <p:cNvSpPr txBox="1"/>
          <p:nvPr/>
        </p:nvSpPr>
        <p:spPr>
          <a:xfrm>
            <a:off x="7333488"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分析验证</a:t>
            </a:r>
          </a:p>
        </p:txBody>
      </p:sp>
      <p:sp>
        <p:nvSpPr>
          <p:cNvPr id="31" name="flow desc 3"/>
          <p:cNvSpPr txBox="1"/>
          <p:nvPr/>
        </p:nvSpPr>
        <p:spPr>
          <a:xfrm>
            <a:off x="7370063"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稳健/对照</a:t>
            </a:r>
          </a:p>
        </p:txBody>
      </p:sp>
      <p:cxnSp>
        <p:nvCxnSpPr>
          <p:cNvPr id="33" name="flow connector 3"/>
          <p:cNvCxnSpPr/>
          <p:nvPr/>
        </p:nvCxnSpPr>
        <p:spPr>
          <a:xfrm>
            <a:off x="8887967" y="3383280"/>
            <a:ext cx="310896" cy="0"/>
          </a:xfrm>
          <a:prstGeom prst="line">
            <a:avLst/>
          </a:prstGeom>
          <a:ln w="12700">
            <a:solidFill>
              <a:srgbClr val="77E2FF"/>
            </a:solidFill>
          </a:ln>
        </p:spPr>
      </p:cxnSp>
      <p:sp>
        <p:nvSpPr>
          <p:cNvPr id="34" name="flow 4"/>
          <p:cNvSpPr/>
          <p:nvPr/>
        </p:nvSpPr>
        <p:spPr>
          <a:xfrm>
            <a:off x="9326880" y="2907792"/>
            <a:ext cx="1627632" cy="950976"/>
          </a:xfrm>
          <a:prstGeom prst="roundRect">
            <a:avLst/>
          </a:prstGeom>
          <a:solidFill>
            <a:srgbClr val="122A45">
              <a:alpha val="84000"/>
            </a:srgbClr>
          </a:solidFill>
          <a:ln w="6350">
            <a:solidFill>
              <a:srgbClr val="426D91"/>
            </a:solidFill>
          </a:ln>
        </p:spPr>
        <p:txBody>
          <a:bodyPr/>
          <a:lstStyle/>
          <a:p/>
        </p:txBody>
      </p:sp>
      <p:sp>
        <p:nvSpPr>
          <p:cNvPr id="35" name="flow head 4"/>
          <p:cNvSpPr txBox="1"/>
          <p:nvPr/>
        </p:nvSpPr>
        <p:spPr>
          <a:xfrm>
            <a:off x="9454896" y="3127248"/>
            <a:ext cx="1371600" cy="237744"/>
          </a:xfrm>
          <a:prstGeom prst="rect">
            <a:avLst/>
          </a:prstGeom>
          <a:noFill/>
          <a:ln>
            <a:noFill/>
          </a:ln>
        </p:spPr>
        <p:txBody>
          <a:bodyPr wrap="square" anchor="t" lIns="0" rIns="0" tIns="0" bIns="0"/>
          <a:lstStyle/>
          <a:p>
            <a:pPr algn="ctr" marL="0" indent="0" spcBef="0" spcAft="0">
              <a:buNone/>
            </a:pPr>
            <a:r>
              <a:rPr lang="zh-CN" sz="970" b="1">
                <a:solidFill>
                  <a:srgbClr val="EAF2FF"/>
                </a:solidFill>
                <a:latin typeface="Aptos"/>
                <a:ea typeface="Microsoft YaHei"/>
              </a:rPr>
              <a:t>结论产出</a:t>
            </a:r>
          </a:p>
        </p:txBody>
      </p:sp>
      <p:sp>
        <p:nvSpPr>
          <p:cNvPr id="36" name="flow desc 4"/>
          <p:cNvSpPr txBox="1"/>
          <p:nvPr/>
        </p:nvSpPr>
        <p:spPr>
          <a:xfrm>
            <a:off x="9491472" y="3456432"/>
            <a:ext cx="1298448" cy="201168"/>
          </a:xfrm>
          <a:prstGeom prst="rect">
            <a:avLst/>
          </a:prstGeom>
          <a:noFill/>
          <a:ln>
            <a:noFill/>
          </a:ln>
        </p:spPr>
        <p:txBody>
          <a:bodyPr wrap="square" anchor="t" lIns="0" rIns="0" tIns="0" bIns="0"/>
          <a:lstStyle/>
          <a:p>
            <a:pPr algn="ctr" marL="0" indent="0" spcBef="0" spcAft="0">
              <a:buNone/>
            </a:pPr>
            <a:r>
              <a:rPr lang="zh-CN" sz="760">
                <a:solidFill>
                  <a:srgbClr val="A9B8CC"/>
                </a:solidFill>
                <a:latin typeface="Aptos"/>
                <a:ea typeface="Microsoft YaHei"/>
              </a:rPr>
              <a:t>贡献/建议</a:t>
            </a:r>
          </a:p>
        </p:txBody>
      </p:sp>
      <p:sp>
        <p:nvSpPr>
          <p:cNvPr id="37" name="method note"/>
          <p:cNvSpPr txBox="1"/>
          <p:nvPr/>
        </p:nvSpPr>
        <p:spPr>
          <a:xfrm>
            <a:off x="987552" y="4800600"/>
            <a:ext cx="9326880" cy="384048"/>
          </a:xfrm>
          <a:prstGeom prst="rect">
            <a:avLst/>
          </a:prstGeom>
          <a:noFill/>
          <a:ln>
            <a:noFill/>
          </a:ln>
        </p:spPr>
        <p:txBody>
          <a:bodyPr wrap="square" anchor="t" lIns="0" rIns="0" tIns="0" bIns="0"/>
          <a:lstStyle/>
          <a:p>
            <a:pPr algn="ctr" marL="0" indent="0" spcBef="0" spcAft="0">
              <a:buNone/>
            </a:pPr>
            <a:r>
              <a:rPr lang="zh-CN" sz="1050">
                <a:solidFill>
                  <a:srgbClr val="A9B8CC"/>
                </a:solidFill>
                <a:latin typeface="Aptos"/>
                <a:ea typeface="Microsoft YaHei"/>
              </a:rPr>
              <a:t>可在这里补充：核心模型、实验设置、变量定义、评价指标或案例选择标准。</a:t>
            </a:r>
          </a:p>
        </p:txBody>
      </p:sp>
      <p:sp>
        <p:nvSpPr>
          <p:cNvPr id="38"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9"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05 / DESIGN</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把可行性落到材料和指标</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数据、实验或案例设计</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数据来源 glass"/>
          <p:cNvSpPr/>
          <p:nvPr/>
        </p:nvSpPr>
        <p:spPr>
          <a:xfrm>
            <a:off x="868680"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15" name="数据来源 accent"/>
          <p:cNvSpPr/>
          <p:nvPr/>
        </p:nvSpPr>
        <p:spPr>
          <a:xfrm>
            <a:off x="1069848" y="2807208"/>
            <a:ext cx="329184" cy="41148"/>
          </a:xfrm>
          <a:prstGeom prst="rect">
            <a:avLst/>
          </a:prstGeom>
          <a:solidFill>
            <a:srgbClr val="77E2FF"/>
          </a:solidFill>
          <a:ln>
            <a:noFill/>
          </a:ln>
        </p:spPr>
        <p:txBody>
          <a:bodyPr/>
          <a:lstStyle/>
          <a:p/>
        </p:txBody>
      </p:sp>
      <p:sp>
        <p:nvSpPr>
          <p:cNvPr id="16" name="数据来源 text"/>
          <p:cNvSpPr txBox="1"/>
          <p:nvPr/>
        </p:nvSpPr>
        <p:spPr>
          <a:xfrm>
            <a:off x="1124712"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数据来源</a:t>
            </a:r>
          </a:p>
          <a:p>
            <a:pPr algn="l" marL="457200" indent="-228600" spcBef="0" spcAft="26000">
              <a:buChar char="•"/>
            </a:pPr>
            <a:r>
              <a:rPr lang="zh-CN" sz="920">
                <a:solidFill>
                  <a:srgbClr val="A9B8CC"/>
                </a:solidFill>
                <a:latin typeface="Aptos"/>
                <a:ea typeface="Microsoft YaHei"/>
              </a:rPr>
              <a:t>公开数据库 / 调研 / 实验记录</a:t>
            </a:r>
          </a:p>
          <a:p>
            <a:pPr algn="l" marL="457200" indent="-228600" spcBef="0" spcAft="26000">
              <a:buChar char="•"/>
            </a:pPr>
            <a:r>
              <a:rPr lang="zh-CN" sz="920">
                <a:solidFill>
                  <a:srgbClr val="A9B8CC"/>
                </a:solidFill>
                <a:latin typeface="Aptos"/>
                <a:ea typeface="Microsoft YaHei"/>
              </a:rPr>
              <a:t>样本范围与时间窗口</a:t>
            </a:r>
          </a:p>
          <a:p>
            <a:pPr algn="l" marL="457200" indent="-228600" spcBef="0" spcAft="26000">
              <a:buChar char="•"/>
            </a:pPr>
            <a:r>
              <a:rPr lang="zh-CN" sz="920">
                <a:solidFill>
                  <a:srgbClr val="A9B8CC"/>
                </a:solidFill>
                <a:latin typeface="Aptos"/>
                <a:ea typeface="Microsoft YaHei"/>
              </a:rPr>
              <a:t>数据清洗与缺失处理</a:t>
            </a:r>
          </a:p>
        </p:txBody>
      </p:sp>
      <p:sp>
        <p:nvSpPr>
          <p:cNvPr id="17" name="研究变量 glass"/>
          <p:cNvSpPr/>
          <p:nvPr/>
        </p:nvSpPr>
        <p:spPr>
          <a:xfrm>
            <a:off x="4297680"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18" name="研究变量 accent"/>
          <p:cNvSpPr/>
          <p:nvPr/>
        </p:nvSpPr>
        <p:spPr>
          <a:xfrm>
            <a:off x="4498848" y="2807208"/>
            <a:ext cx="329184" cy="41148"/>
          </a:xfrm>
          <a:prstGeom prst="rect">
            <a:avLst/>
          </a:prstGeom>
          <a:solidFill>
            <a:srgbClr val="4EA1FF"/>
          </a:solidFill>
          <a:ln>
            <a:noFill/>
          </a:ln>
        </p:spPr>
        <p:txBody>
          <a:bodyPr/>
          <a:lstStyle/>
          <a:p/>
        </p:txBody>
      </p:sp>
      <p:sp>
        <p:nvSpPr>
          <p:cNvPr id="19" name="研究变量 text"/>
          <p:cNvSpPr txBox="1"/>
          <p:nvPr/>
        </p:nvSpPr>
        <p:spPr>
          <a:xfrm>
            <a:off x="4553712"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研究变量</a:t>
            </a:r>
          </a:p>
          <a:p>
            <a:pPr algn="l" marL="457200" indent="-228600" spcBef="0" spcAft="26000">
              <a:buChar char="•"/>
            </a:pPr>
            <a:r>
              <a:rPr lang="zh-CN" sz="920">
                <a:solidFill>
                  <a:srgbClr val="A9B8CC"/>
                </a:solidFill>
                <a:latin typeface="Aptos"/>
                <a:ea typeface="Microsoft YaHei"/>
              </a:rPr>
              <a:t>解释变量与被解释变量</a:t>
            </a:r>
          </a:p>
          <a:p>
            <a:pPr algn="l" marL="457200" indent="-228600" spcBef="0" spcAft="26000">
              <a:buChar char="•"/>
            </a:pPr>
            <a:r>
              <a:rPr lang="zh-CN" sz="920">
                <a:solidFill>
                  <a:srgbClr val="A9B8CC"/>
                </a:solidFill>
                <a:latin typeface="Aptos"/>
                <a:ea typeface="Microsoft YaHei"/>
              </a:rPr>
              <a:t>控制变量与中介机制</a:t>
            </a:r>
          </a:p>
          <a:p>
            <a:pPr algn="l" marL="457200" indent="-228600" spcBef="0" spcAft="26000">
              <a:buChar char="•"/>
            </a:pPr>
            <a:r>
              <a:rPr lang="zh-CN" sz="920">
                <a:solidFill>
                  <a:srgbClr val="A9B8CC"/>
                </a:solidFill>
                <a:latin typeface="Aptos"/>
                <a:ea typeface="Microsoft YaHei"/>
              </a:rPr>
              <a:t>指标定义与量化方式</a:t>
            </a:r>
          </a:p>
        </p:txBody>
      </p:sp>
      <p:sp>
        <p:nvSpPr>
          <p:cNvPr id="20" name="验证策略 glass"/>
          <p:cNvSpPr/>
          <p:nvPr/>
        </p:nvSpPr>
        <p:spPr>
          <a:xfrm>
            <a:off x="7726679" y="2606040"/>
            <a:ext cx="3063240" cy="2331720"/>
          </a:xfrm>
          <a:prstGeom prst="roundRect">
            <a:avLst/>
          </a:prstGeom>
          <a:solidFill>
            <a:srgbClr val="122A45">
              <a:alpha val="82000"/>
            </a:srgbClr>
          </a:solidFill>
          <a:ln w="6350">
            <a:solidFill>
              <a:srgbClr val="40627F">
                <a:alpha val="68000"/>
              </a:srgbClr>
            </a:solidFill>
          </a:ln>
        </p:spPr>
        <p:txBody>
          <a:bodyPr/>
          <a:lstStyle/>
          <a:p/>
        </p:txBody>
      </p:sp>
      <p:sp>
        <p:nvSpPr>
          <p:cNvPr id="21" name="验证策略 accent"/>
          <p:cNvSpPr/>
          <p:nvPr/>
        </p:nvSpPr>
        <p:spPr>
          <a:xfrm>
            <a:off x="7927848" y="2807208"/>
            <a:ext cx="329184" cy="41148"/>
          </a:xfrm>
          <a:prstGeom prst="rect">
            <a:avLst/>
          </a:prstGeom>
          <a:solidFill>
            <a:srgbClr val="C8A45D"/>
          </a:solidFill>
          <a:ln>
            <a:noFill/>
          </a:ln>
        </p:spPr>
        <p:txBody>
          <a:bodyPr/>
          <a:lstStyle/>
          <a:p/>
        </p:txBody>
      </p:sp>
      <p:sp>
        <p:nvSpPr>
          <p:cNvPr id="22" name="验证策略 text"/>
          <p:cNvSpPr txBox="1"/>
          <p:nvPr/>
        </p:nvSpPr>
        <p:spPr>
          <a:xfrm>
            <a:off x="7982711" y="2935224"/>
            <a:ext cx="2606040" cy="1801367"/>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验证策略</a:t>
            </a:r>
          </a:p>
          <a:p>
            <a:pPr algn="l" marL="457200" indent="-228600" spcBef="0" spcAft="26000">
              <a:buChar char="•"/>
            </a:pPr>
            <a:r>
              <a:rPr lang="zh-CN" sz="920">
                <a:solidFill>
                  <a:srgbClr val="A9B8CC"/>
                </a:solidFill>
                <a:latin typeface="Aptos"/>
                <a:ea typeface="Microsoft YaHei"/>
              </a:rPr>
              <a:t>基准模型或实验流程</a:t>
            </a:r>
          </a:p>
          <a:p>
            <a:pPr algn="l" marL="457200" indent="-228600" spcBef="0" spcAft="26000">
              <a:buChar char="•"/>
            </a:pPr>
            <a:r>
              <a:rPr lang="zh-CN" sz="920">
                <a:solidFill>
                  <a:srgbClr val="A9B8CC"/>
                </a:solidFill>
                <a:latin typeface="Aptos"/>
                <a:ea typeface="Microsoft YaHei"/>
              </a:rPr>
              <a:t>稳健性检验</a:t>
            </a:r>
          </a:p>
          <a:p>
            <a:pPr algn="l" marL="457200" indent="-228600" spcBef="0" spcAft="26000">
              <a:buChar char="•"/>
            </a:pPr>
            <a:r>
              <a:rPr lang="zh-CN" sz="920">
                <a:solidFill>
                  <a:srgbClr val="A9B8CC"/>
                </a:solidFill>
                <a:latin typeface="Aptos"/>
                <a:ea typeface="Microsoft YaHei"/>
              </a:rPr>
              <a:t>替代解释排除</a:t>
            </a:r>
          </a:p>
        </p:txBody>
      </p:sp>
      <p:sp>
        <p:nvSpPr>
          <p:cNvPr id="23"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4"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06 / FEASIBILITY</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评委关心的不是宏大，而是能落地</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可行性分析与风险控制</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risk row 0"/>
          <p:cNvSpPr/>
          <p:nvPr/>
        </p:nvSpPr>
        <p:spPr>
          <a:xfrm>
            <a:off x="914400" y="2542032"/>
            <a:ext cx="9784080" cy="502920"/>
          </a:xfrm>
          <a:prstGeom prst="roundRect">
            <a:avLst/>
          </a:prstGeom>
          <a:solidFill>
            <a:srgbClr val="16375A">
              <a:alpha val="76000"/>
            </a:srgbClr>
          </a:solidFill>
          <a:ln w="6350">
            <a:solidFill>
              <a:srgbClr val="34516F"/>
            </a:solidFill>
          </a:ln>
        </p:spPr>
        <p:txBody>
          <a:bodyPr/>
          <a:lstStyle/>
          <a:p/>
        </p:txBody>
      </p:sp>
      <p:sp>
        <p:nvSpPr>
          <p:cNvPr id="15" name="risk head 0"/>
          <p:cNvSpPr txBox="1"/>
          <p:nvPr/>
        </p:nvSpPr>
        <p:spPr>
          <a:xfrm>
            <a:off x="1170432" y="2679191"/>
            <a:ext cx="1234440" cy="164592"/>
          </a:xfrm>
          <a:prstGeom prst="rect">
            <a:avLst/>
          </a:prstGeom>
          <a:noFill/>
          <a:ln>
            <a:noFill/>
          </a:ln>
        </p:spPr>
        <p:txBody>
          <a:bodyPr wrap="square" anchor="t" lIns="0" rIns="0" tIns="0" bIns="0"/>
          <a:lstStyle/>
          <a:p>
            <a:pPr algn="l" marL="0" indent="0" spcBef="0" spcAft="0">
              <a:buNone/>
            </a:pPr>
            <a:r>
              <a:rPr lang="zh-CN" sz="850" b="1">
                <a:solidFill>
                  <a:srgbClr val="77E2FF"/>
                </a:solidFill>
                <a:latin typeface="Aptos"/>
                <a:ea typeface="Microsoft YaHei"/>
              </a:rPr>
              <a:t>研究基础</a:t>
            </a:r>
          </a:p>
        </p:txBody>
      </p:sp>
      <p:sp>
        <p:nvSpPr>
          <p:cNvPr id="16" name="risk desc 0"/>
          <p:cNvSpPr txBox="1"/>
          <p:nvPr/>
        </p:nvSpPr>
        <p:spPr>
          <a:xfrm>
            <a:off x="2743200" y="2670048"/>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已有课程、阅读、预研或数据积累</a:t>
            </a:r>
          </a:p>
        </p:txBody>
      </p:sp>
      <p:sp>
        <p:nvSpPr>
          <p:cNvPr id="17" name="risk row 1"/>
          <p:cNvSpPr/>
          <p:nvPr/>
        </p:nvSpPr>
        <p:spPr>
          <a:xfrm>
            <a:off x="914400" y="3310127"/>
            <a:ext cx="9784080" cy="502920"/>
          </a:xfrm>
          <a:prstGeom prst="roundRect">
            <a:avLst/>
          </a:prstGeom>
          <a:solidFill>
            <a:srgbClr val="122A45">
              <a:alpha val="76000"/>
            </a:srgbClr>
          </a:solidFill>
          <a:ln w="6350">
            <a:solidFill>
              <a:srgbClr val="34516F"/>
            </a:solidFill>
          </a:ln>
        </p:spPr>
        <p:txBody>
          <a:bodyPr/>
          <a:lstStyle/>
          <a:p/>
        </p:txBody>
      </p:sp>
      <p:sp>
        <p:nvSpPr>
          <p:cNvPr id="18" name="risk head 1"/>
          <p:cNvSpPr txBox="1"/>
          <p:nvPr/>
        </p:nvSpPr>
        <p:spPr>
          <a:xfrm>
            <a:off x="1170432" y="3447287"/>
            <a:ext cx="1234440" cy="164592"/>
          </a:xfrm>
          <a:prstGeom prst="rect">
            <a:avLst/>
          </a:prstGeom>
          <a:noFill/>
          <a:ln>
            <a:noFill/>
          </a:ln>
        </p:spPr>
        <p:txBody>
          <a:bodyPr wrap="square" anchor="t" lIns="0" rIns="0" tIns="0" bIns="0"/>
          <a:lstStyle/>
          <a:p>
            <a:pPr algn="l" marL="0" indent="0" spcBef="0" spcAft="0">
              <a:buNone/>
            </a:pPr>
            <a:r>
              <a:rPr lang="zh-CN" sz="850" b="1">
                <a:solidFill>
                  <a:srgbClr val="77E2FF"/>
                </a:solidFill>
                <a:latin typeface="Aptos"/>
                <a:ea typeface="Microsoft YaHei"/>
              </a:rPr>
              <a:t>资源条件</a:t>
            </a:r>
          </a:p>
        </p:txBody>
      </p:sp>
      <p:sp>
        <p:nvSpPr>
          <p:cNvPr id="19" name="risk desc 1"/>
          <p:cNvSpPr txBox="1"/>
          <p:nvPr/>
        </p:nvSpPr>
        <p:spPr>
          <a:xfrm>
            <a:off x="2743200" y="3438144"/>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软件、平台、导师支持、数据权限</a:t>
            </a:r>
          </a:p>
        </p:txBody>
      </p:sp>
      <p:sp>
        <p:nvSpPr>
          <p:cNvPr id="20" name="risk row 2"/>
          <p:cNvSpPr/>
          <p:nvPr/>
        </p:nvSpPr>
        <p:spPr>
          <a:xfrm>
            <a:off x="914400" y="4078224"/>
            <a:ext cx="9784080" cy="502920"/>
          </a:xfrm>
          <a:prstGeom prst="roundRect">
            <a:avLst/>
          </a:prstGeom>
          <a:solidFill>
            <a:srgbClr val="16375A">
              <a:alpha val="76000"/>
            </a:srgbClr>
          </a:solidFill>
          <a:ln w="6350">
            <a:solidFill>
              <a:srgbClr val="34516F"/>
            </a:solidFill>
          </a:ln>
        </p:spPr>
        <p:txBody>
          <a:bodyPr/>
          <a:lstStyle/>
          <a:p/>
        </p:txBody>
      </p:sp>
      <p:sp>
        <p:nvSpPr>
          <p:cNvPr id="21" name="risk head 2"/>
          <p:cNvSpPr txBox="1"/>
          <p:nvPr/>
        </p:nvSpPr>
        <p:spPr>
          <a:xfrm>
            <a:off x="1170432" y="4215384"/>
            <a:ext cx="1234440" cy="164592"/>
          </a:xfrm>
          <a:prstGeom prst="rect">
            <a:avLst/>
          </a:prstGeom>
          <a:noFill/>
          <a:ln>
            <a:noFill/>
          </a:ln>
        </p:spPr>
        <p:txBody>
          <a:bodyPr wrap="square" anchor="t" lIns="0" rIns="0" tIns="0" bIns="0"/>
          <a:lstStyle/>
          <a:p>
            <a:pPr algn="l" marL="0" indent="0" spcBef="0" spcAft="0">
              <a:buNone/>
            </a:pPr>
            <a:r>
              <a:rPr lang="zh-CN" sz="850" b="1">
                <a:solidFill>
                  <a:srgbClr val="C8A45D"/>
                </a:solidFill>
                <a:latin typeface="Aptos"/>
                <a:ea typeface="Microsoft YaHei"/>
              </a:rPr>
              <a:t>潜在风险</a:t>
            </a:r>
          </a:p>
        </p:txBody>
      </p:sp>
      <p:sp>
        <p:nvSpPr>
          <p:cNvPr id="22" name="risk desc 2"/>
          <p:cNvSpPr txBox="1"/>
          <p:nvPr/>
        </p:nvSpPr>
        <p:spPr>
          <a:xfrm>
            <a:off x="2743200" y="4206240"/>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数据不足、模型不稳定、进度延迟</a:t>
            </a:r>
          </a:p>
        </p:txBody>
      </p:sp>
      <p:sp>
        <p:nvSpPr>
          <p:cNvPr id="23" name="risk row 3"/>
          <p:cNvSpPr/>
          <p:nvPr/>
        </p:nvSpPr>
        <p:spPr>
          <a:xfrm>
            <a:off x="914400" y="4846320"/>
            <a:ext cx="9784080" cy="502920"/>
          </a:xfrm>
          <a:prstGeom prst="roundRect">
            <a:avLst/>
          </a:prstGeom>
          <a:solidFill>
            <a:srgbClr val="122A45">
              <a:alpha val="76000"/>
            </a:srgbClr>
          </a:solidFill>
          <a:ln w="6350">
            <a:solidFill>
              <a:srgbClr val="34516F"/>
            </a:solidFill>
          </a:ln>
        </p:spPr>
        <p:txBody>
          <a:bodyPr/>
          <a:lstStyle/>
          <a:p/>
        </p:txBody>
      </p:sp>
      <p:sp>
        <p:nvSpPr>
          <p:cNvPr id="24" name="risk head 3"/>
          <p:cNvSpPr txBox="1"/>
          <p:nvPr/>
        </p:nvSpPr>
        <p:spPr>
          <a:xfrm>
            <a:off x="1170432" y="4983480"/>
            <a:ext cx="1234440" cy="164592"/>
          </a:xfrm>
          <a:prstGeom prst="rect">
            <a:avLst/>
          </a:prstGeom>
          <a:noFill/>
          <a:ln>
            <a:noFill/>
          </a:ln>
        </p:spPr>
        <p:txBody>
          <a:bodyPr wrap="square" anchor="t" lIns="0" rIns="0" tIns="0" bIns="0"/>
          <a:lstStyle/>
          <a:p>
            <a:pPr algn="l" marL="0" indent="0" spcBef="0" spcAft="0">
              <a:buNone/>
            </a:pPr>
            <a:r>
              <a:rPr lang="zh-CN" sz="850" b="1">
                <a:solidFill>
                  <a:srgbClr val="C8A45D"/>
                </a:solidFill>
                <a:latin typeface="Aptos"/>
                <a:ea typeface="Microsoft YaHei"/>
              </a:rPr>
              <a:t>备选方案</a:t>
            </a:r>
          </a:p>
        </p:txBody>
      </p:sp>
      <p:sp>
        <p:nvSpPr>
          <p:cNvPr id="25" name="risk desc 3"/>
          <p:cNvSpPr txBox="1"/>
          <p:nvPr/>
        </p:nvSpPr>
        <p:spPr>
          <a:xfrm>
            <a:off x="2743200" y="4974336"/>
            <a:ext cx="7223760" cy="182880"/>
          </a:xfrm>
          <a:prstGeom prst="rect">
            <a:avLst/>
          </a:prstGeom>
          <a:noFill/>
          <a:ln>
            <a:noFill/>
          </a:ln>
        </p:spPr>
        <p:txBody>
          <a:bodyPr wrap="square" anchor="t" lIns="0" rIns="0" tIns="0" bIns="0"/>
          <a:lstStyle/>
          <a:p>
            <a:pPr algn="l" marL="0" indent="0" spcBef="0" spcAft="0">
              <a:buNone/>
            </a:pPr>
            <a:r>
              <a:rPr lang="zh-CN" sz="880">
                <a:solidFill>
                  <a:srgbClr val="A9B8CC"/>
                </a:solidFill>
                <a:latin typeface="Aptos"/>
                <a:ea typeface="Microsoft YaHei"/>
              </a:rPr>
              <a:t>替代样本、替代模型、降级范围</a:t>
            </a:r>
          </a:p>
        </p:txBody>
      </p:sp>
      <p:sp>
        <p:nvSpPr>
          <p:cNvPr id="26"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7"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07 / SCHEDULE</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时间表保持克制、清楚、可执行</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研究计划与阶段成果</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phase 0"/>
          <p:cNvSpPr txBox="1"/>
          <p:nvPr/>
        </p:nvSpPr>
        <p:spPr>
          <a:xfrm>
            <a:off x="2331720"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阶段一</a:t>
            </a:r>
          </a:p>
        </p:txBody>
      </p:sp>
      <p:cxnSp>
        <p:nvCxnSpPr>
          <p:cNvPr id="15" name="grid 0"/>
          <p:cNvCxnSpPr/>
          <p:nvPr/>
        </p:nvCxnSpPr>
        <p:spPr>
          <a:xfrm>
            <a:off x="2331720" y="2990088"/>
            <a:ext cx="0" cy="2496312"/>
          </a:xfrm>
          <a:prstGeom prst="line">
            <a:avLst/>
          </a:prstGeom>
          <a:ln w="6350">
            <a:solidFill>
              <a:srgbClr val="34516F"/>
            </a:solidFill>
          </a:ln>
        </p:spPr>
      </p:cxnSp>
      <p:sp>
        <p:nvSpPr>
          <p:cNvPr id="16" name="phase 1"/>
          <p:cNvSpPr txBox="1"/>
          <p:nvPr/>
        </p:nvSpPr>
        <p:spPr>
          <a:xfrm>
            <a:off x="3904487"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阶段二</a:t>
            </a:r>
          </a:p>
        </p:txBody>
      </p:sp>
      <p:cxnSp>
        <p:nvCxnSpPr>
          <p:cNvPr id="17" name="grid 1"/>
          <p:cNvCxnSpPr/>
          <p:nvPr/>
        </p:nvCxnSpPr>
        <p:spPr>
          <a:xfrm>
            <a:off x="3904487" y="2990088"/>
            <a:ext cx="0" cy="2496312"/>
          </a:xfrm>
          <a:prstGeom prst="line">
            <a:avLst/>
          </a:prstGeom>
          <a:ln w="6350">
            <a:solidFill>
              <a:srgbClr val="34516F"/>
            </a:solidFill>
          </a:ln>
        </p:spPr>
      </p:cxnSp>
      <p:sp>
        <p:nvSpPr>
          <p:cNvPr id="18" name="phase 2"/>
          <p:cNvSpPr txBox="1"/>
          <p:nvPr/>
        </p:nvSpPr>
        <p:spPr>
          <a:xfrm>
            <a:off x="5477256"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阶段三</a:t>
            </a:r>
          </a:p>
        </p:txBody>
      </p:sp>
      <p:cxnSp>
        <p:nvCxnSpPr>
          <p:cNvPr id="19" name="grid 2"/>
          <p:cNvCxnSpPr/>
          <p:nvPr/>
        </p:nvCxnSpPr>
        <p:spPr>
          <a:xfrm>
            <a:off x="5477256" y="2990088"/>
            <a:ext cx="0" cy="2496312"/>
          </a:xfrm>
          <a:prstGeom prst="line">
            <a:avLst/>
          </a:prstGeom>
          <a:ln w="6350">
            <a:solidFill>
              <a:srgbClr val="34516F"/>
            </a:solidFill>
          </a:ln>
        </p:spPr>
      </p:cxnSp>
      <p:sp>
        <p:nvSpPr>
          <p:cNvPr id="20" name="phase 3"/>
          <p:cNvSpPr txBox="1"/>
          <p:nvPr/>
        </p:nvSpPr>
        <p:spPr>
          <a:xfrm>
            <a:off x="7050024"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阶段四</a:t>
            </a:r>
          </a:p>
        </p:txBody>
      </p:sp>
      <p:cxnSp>
        <p:nvCxnSpPr>
          <p:cNvPr id="21" name="grid 3"/>
          <p:cNvCxnSpPr/>
          <p:nvPr/>
        </p:nvCxnSpPr>
        <p:spPr>
          <a:xfrm>
            <a:off x="7050024" y="2990088"/>
            <a:ext cx="0" cy="2496312"/>
          </a:xfrm>
          <a:prstGeom prst="line">
            <a:avLst/>
          </a:prstGeom>
          <a:ln w="6350">
            <a:solidFill>
              <a:srgbClr val="34516F"/>
            </a:solidFill>
          </a:ln>
        </p:spPr>
      </p:cxnSp>
      <p:sp>
        <p:nvSpPr>
          <p:cNvPr id="22" name="phase 4"/>
          <p:cNvSpPr txBox="1"/>
          <p:nvPr/>
        </p:nvSpPr>
        <p:spPr>
          <a:xfrm>
            <a:off x="8622792" y="2606040"/>
            <a:ext cx="1572768" cy="201168"/>
          </a:xfrm>
          <a:prstGeom prst="rect">
            <a:avLst/>
          </a:prstGeom>
          <a:noFill/>
          <a:ln>
            <a:noFill/>
          </a:ln>
        </p:spPr>
        <p:txBody>
          <a:bodyPr wrap="square" anchor="t" lIns="0" rIns="0" tIns="0" bIns="0"/>
          <a:lstStyle/>
          <a:p>
            <a:pPr algn="ctr" marL="0" indent="0" spcBef="0" spcAft="0">
              <a:buNone/>
            </a:pPr>
            <a:r>
              <a:rPr lang="zh-CN" sz="780">
                <a:solidFill>
                  <a:srgbClr val="A9B8CC"/>
                </a:solidFill>
                <a:latin typeface="Aptos"/>
                <a:ea typeface="Microsoft YaHei"/>
              </a:rPr>
              <a:t>阶段五</a:t>
            </a:r>
          </a:p>
        </p:txBody>
      </p:sp>
      <p:cxnSp>
        <p:nvCxnSpPr>
          <p:cNvPr id="23" name="grid 4"/>
          <p:cNvCxnSpPr/>
          <p:nvPr/>
        </p:nvCxnSpPr>
        <p:spPr>
          <a:xfrm>
            <a:off x="8622792" y="2990088"/>
            <a:ext cx="0" cy="2496312"/>
          </a:xfrm>
          <a:prstGeom prst="line">
            <a:avLst/>
          </a:prstGeom>
          <a:ln w="6350">
            <a:solidFill>
              <a:srgbClr val="34516F"/>
            </a:solidFill>
          </a:ln>
        </p:spPr>
      </p:cxnSp>
      <p:cxnSp>
        <p:nvCxnSpPr>
          <p:cNvPr id="24" name="grid last"/>
          <p:cNvCxnSpPr/>
          <p:nvPr/>
        </p:nvCxnSpPr>
        <p:spPr>
          <a:xfrm>
            <a:off x="10195559" y="2990088"/>
            <a:ext cx="0" cy="2496312"/>
          </a:xfrm>
          <a:prstGeom prst="line">
            <a:avLst/>
          </a:prstGeom>
          <a:ln w="6350">
            <a:solidFill>
              <a:srgbClr val="34516F"/>
            </a:solidFill>
          </a:ln>
        </p:spPr>
      </p:cxnSp>
      <p:sp>
        <p:nvSpPr>
          <p:cNvPr id="25" name="task 0"/>
          <p:cNvSpPr txBox="1"/>
          <p:nvPr/>
        </p:nvSpPr>
        <p:spPr>
          <a:xfrm>
            <a:off x="877824" y="321868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文献综述</a:t>
            </a:r>
          </a:p>
        </p:txBody>
      </p:sp>
      <p:sp>
        <p:nvSpPr>
          <p:cNvPr id="26" name="bar 0"/>
          <p:cNvSpPr/>
          <p:nvPr/>
        </p:nvSpPr>
        <p:spPr>
          <a:xfrm>
            <a:off x="2441448" y="3172968"/>
            <a:ext cx="1353312" cy="219456"/>
          </a:xfrm>
          <a:prstGeom prst="roundRect">
            <a:avLst/>
          </a:prstGeom>
          <a:solidFill>
            <a:srgbClr val="77E2FF"/>
          </a:solidFill>
          <a:ln>
            <a:noFill/>
          </a:ln>
        </p:spPr>
        <p:txBody>
          <a:bodyPr/>
          <a:lstStyle/>
          <a:p/>
        </p:txBody>
      </p:sp>
      <p:sp>
        <p:nvSpPr>
          <p:cNvPr id="27" name="task 1"/>
          <p:cNvSpPr txBox="1"/>
          <p:nvPr/>
        </p:nvSpPr>
        <p:spPr>
          <a:xfrm>
            <a:off x="877824" y="372160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方案设计</a:t>
            </a:r>
          </a:p>
        </p:txBody>
      </p:sp>
      <p:sp>
        <p:nvSpPr>
          <p:cNvPr id="28" name="bar 1"/>
          <p:cNvSpPr/>
          <p:nvPr/>
        </p:nvSpPr>
        <p:spPr>
          <a:xfrm>
            <a:off x="4014215" y="3675888"/>
            <a:ext cx="1353312" cy="219456"/>
          </a:xfrm>
          <a:prstGeom prst="roundRect">
            <a:avLst/>
          </a:prstGeom>
          <a:solidFill>
            <a:srgbClr val="4EA1FF"/>
          </a:solidFill>
          <a:ln>
            <a:noFill/>
          </a:ln>
        </p:spPr>
        <p:txBody>
          <a:bodyPr/>
          <a:lstStyle/>
          <a:p/>
        </p:txBody>
      </p:sp>
      <p:sp>
        <p:nvSpPr>
          <p:cNvPr id="29" name="task 2"/>
          <p:cNvSpPr txBox="1"/>
          <p:nvPr/>
        </p:nvSpPr>
        <p:spPr>
          <a:xfrm>
            <a:off x="877824" y="422452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数据/实验</a:t>
            </a:r>
          </a:p>
        </p:txBody>
      </p:sp>
      <p:sp>
        <p:nvSpPr>
          <p:cNvPr id="30" name="bar 2"/>
          <p:cNvSpPr/>
          <p:nvPr/>
        </p:nvSpPr>
        <p:spPr>
          <a:xfrm>
            <a:off x="5586984" y="4178808"/>
            <a:ext cx="1353312" cy="219456"/>
          </a:xfrm>
          <a:prstGeom prst="roundRect">
            <a:avLst/>
          </a:prstGeom>
          <a:solidFill>
            <a:srgbClr val="4EA1FF"/>
          </a:solidFill>
          <a:ln>
            <a:noFill/>
          </a:ln>
        </p:spPr>
        <p:txBody>
          <a:bodyPr/>
          <a:lstStyle/>
          <a:p/>
        </p:txBody>
      </p:sp>
      <p:sp>
        <p:nvSpPr>
          <p:cNvPr id="31" name="task 3"/>
          <p:cNvSpPr txBox="1"/>
          <p:nvPr/>
        </p:nvSpPr>
        <p:spPr>
          <a:xfrm>
            <a:off x="877824" y="472744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分析验证</a:t>
            </a:r>
          </a:p>
        </p:txBody>
      </p:sp>
      <p:sp>
        <p:nvSpPr>
          <p:cNvPr id="32" name="bar 3"/>
          <p:cNvSpPr/>
          <p:nvPr/>
        </p:nvSpPr>
        <p:spPr>
          <a:xfrm>
            <a:off x="7159752" y="4681728"/>
            <a:ext cx="1353312" cy="219456"/>
          </a:xfrm>
          <a:prstGeom prst="roundRect">
            <a:avLst/>
          </a:prstGeom>
          <a:solidFill>
            <a:srgbClr val="4EA1FF"/>
          </a:solidFill>
          <a:ln>
            <a:noFill/>
          </a:ln>
        </p:spPr>
        <p:txBody>
          <a:bodyPr/>
          <a:lstStyle/>
          <a:p/>
        </p:txBody>
      </p:sp>
      <p:sp>
        <p:nvSpPr>
          <p:cNvPr id="33" name="task 4"/>
          <p:cNvSpPr txBox="1"/>
          <p:nvPr/>
        </p:nvSpPr>
        <p:spPr>
          <a:xfrm>
            <a:off x="877824" y="5230368"/>
            <a:ext cx="1188720" cy="164592"/>
          </a:xfrm>
          <a:prstGeom prst="rect">
            <a:avLst/>
          </a:prstGeom>
          <a:noFill/>
          <a:ln>
            <a:noFill/>
          </a:ln>
        </p:spPr>
        <p:txBody>
          <a:bodyPr wrap="square" anchor="t" lIns="0" rIns="0" tIns="0" bIns="0"/>
          <a:lstStyle/>
          <a:p>
            <a:pPr algn="r" marL="0" indent="0" spcBef="0" spcAft="0">
              <a:buNone/>
            </a:pPr>
            <a:r>
              <a:rPr lang="zh-CN" sz="780">
                <a:solidFill>
                  <a:srgbClr val="A9B8CC"/>
                </a:solidFill>
                <a:latin typeface="Aptos"/>
                <a:ea typeface="Microsoft YaHei"/>
              </a:rPr>
              <a:t>论文撰写</a:t>
            </a:r>
          </a:p>
        </p:txBody>
      </p:sp>
      <p:sp>
        <p:nvSpPr>
          <p:cNvPr id="34" name="bar 4"/>
          <p:cNvSpPr/>
          <p:nvPr/>
        </p:nvSpPr>
        <p:spPr>
          <a:xfrm>
            <a:off x="8732519" y="5184648"/>
            <a:ext cx="1353312" cy="219456"/>
          </a:xfrm>
          <a:prstGeom prst="roundRect">
            <a:avLst/>
          </a:prstGeom>
          <a:solidFill>
            <a:srgbClr val="77E2FF"/>
          </a:solidFill>
          <a:ln>
            <a:noFill/>
          </a:ln>
        </p:spPr>
        <p:txBody>
          <a:bodyPr/>
          <a:lstStyle/>
          <a:p/>
        </p:txBody>
      </p:sp>
      <p:sp>
        <p:nvSpPr>
          <p:cNvPr id="35"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36"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08 / OUTCOMES</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说明产出，也说明适用范围</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预期成果与贡献边界</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论文成果 glass"/>
          <p:cNvSpPr/>
          <p:nvPr/>
        </p:nvSpPr>
        <p:spPr>
          <a:xfrm>
            <a:off x="91440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15" name="论文成果 accent"/>
          <p:cNvSpPr/>
          <p:nvPr/>
        </p:nvSpPr>
        <p:spPr>
          <a:xfrm>
            <a:off x="1115568" y="2852928"/>
            <a:ext cx="329184" cy="41148"/>
          </a:xfrm>
          <a:prstGeom prst="rect">
            <a:avLst/>
          </a:prstGeom>
          <a:solidFill>
            <a:srgbClr val="77E2FF"/>
          </a:solidFill>
          <a:ln>
            <a:noFill/>
          </a:ln>
        </p:spPr>
        <p:txBody>
          <a:bodyPr/>
          <a:lstStyle/>
          <a:p/>
        </p:txBody>
      </p:sp>
      <p:sp>
        <p:nvSpPr>
          <p:cNvPr id="16" name="论文成果 text"/>
          <p:cNvSpPr txBox="1"/>
          <p:nvPr/>
        </p:nvSpPr>
        <p:spPr>
          <a:xfrm>
            <a:off x="117043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论文成果</a:t>
            </a:r>
          </a:p>
          <a:p>
            <a:pPr algn="l" marL="457200" indent="-228600" spcBef="0" spcAft="26000">
              <a:buChar char="•"/>
            </a:pPr>
            <a:r>
              <a:rPr lang="zh-CN" sz="920">
                <a:solidFill>
                  <a:srgbClr val="A9B8CC"/>
                </a:solidFill>
                <a:latin typeface="Aptos"/>
                <a:ea typeface="Microsoft YaHei"/>
              </a:rPr>
              <a:t>完成开题报告与学位论文</a:t>
            </a:r>
          </a:p>
          <a:p>
            <a:pPr algn="l" marL="457200" indent="-228600" spcBef="0" spcAft="26000">
              <a:buChar char="•"/>
            </a:pPr>
            <a:r>
              <a:rPr lang="zh-CN" sz="920">
                <a:solidFill>
                  <a:srgbClr val="A9B8CC"/>
                </a:solidFill>
                <a:latin typeface="Aptos"/>
                <a:ea typeface="Microsoft YaHei"/>
              </a:rPr>
              <a:t>形成完整问题 - 方法 - 结论链条</a:t>
            </a:r>
          </a:p>
        </p:txBody>
      </p:sp>
      <p:sp>
        <p:nvSpPr>
          <p:cNvPr id="17" name="学术贡献 glass"/>
          <p:cNvSpPr/>
          <p:nvPr/>
        </p:nvSpPr>
        <p:spPr>
          <a:xfrm>
            <a:off x="461772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18" name="学术贡献 accent"/>
          <p:cNvSpPr/>
          <p:nvPr/>
        </p:nvSpPr>
        <p:spPr>
          <a:xfrm>
            <a:off x="4818888" y="2852928"/>
            <a:ext cx="329184" cy="41148"/>
          </a:xfrm>
          <a:prstGeom prst="rect">
            <a:avLst/>
          </a:prstGeom>
          <a:solidFill>
            <a:srgbClr val="4EA1FF"/>
          </a:solidFill>
          <a:ln>
            <a:noFill/>
          </a:ln>
        </p:spPr>
        <p:txBody>
          <a:bodyPr/>
          <a:lstStyle/>
          <a:p/>
        </p:txBody>
      </p:sp>
      <p:sp>
        <p:nvSpPr>
          <p:cNvPr id="19" name="学术贡献 text"/>
          <p:cNvSpPr txBox="1"/>
          <p:nvPr/>
        </p:nvSpPr>
        <p:spPr>
          <a:xfrm>
            <a:off x="487375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学术贡献</a:t>
            </a:r>
          </a:p>
          <a:p>
            <a:pPr algn="l" marL="457200" indent="-228600" spcBef="0" spcAft="26000">
              <a:buChar char="•"/>
            </a:pPr>
            <a:r>
              <a:rPr lang="zh-CN" sz="920">
                <a:solidFill>
                  <a:srgbClr val="A9B8CC"/>
                </a:solidFill>
                <a:latin typeface="Aptos"/>
                <a:ea typeface="Microsoft YaHei"/>
              </a:rPr>
              <a:t>补充理论解释或经验证据</a:t>
            </a:r>
          </a:p>
          <a:p>
            <a:pPr algn="l" marL="457200" indent="-228600" spcBef="0" spcAft="26000">
              <a:buChar char="•"/>
            </a:pPr>
            <a:r>
              <a:rPr lang="zh-CN" sz="920">
                <a:solidFill>
                  <a:srgbClr val="A9B8CC"/>
                </a:solidFill>
                <a:latin typeface="Aptos"/>
                <a:ea typeface="Microsoft YaHei"/>
              </a:rPr>
              <a:t>提供可复用研究框架</a:t>
            </a:r>
          </a:p>
        </p:txBody>
      </p:sp>
      <p:sp>
        <p:nvSpPr>
          <p:cNvPr id="20" name="实践价值 glass"/>
          <p:cNvSpPr/>
          <p:nvPr/>
        </p:nvSpPr>
        <p:spPr>
          <a:xfrm>
            <a:off x="8321040" y="2651760"/>
            <a:ext cx="2880360" cy="2148840"/>
          </a:xfrm>
          <a:prstGeom prst="roundRect">
            <a:avLst/>
          </a:prstGeom>
          <a:solidFill>
            <a:srgbClr val="122A45">
              <a:alpha val="82000"/>
            </a:srgbClr>
          </a:solidFill>
          <a:ln w="6350">
            <a:solidFill>
              <a:srgbClr val="40627F">
                <a:alpha val="68000"/>
              </a:srgbClr>
            </a:solidFill>
          </a:ln>
        </p:spPr>
        <p:txBody>
          <a:bodyPr/>
          <a:lstStyle/>
          <a:p/>
        </p:txBody>
      </p:sp>
      <p:sp>
        <p:nvSpPr>
          <p:cNvPr id="21" name="实践价值 accent"/>
          <p:cNvSpPr/>
          <p:nvPr/>
        </p:nvSpPr>
        <p:spPr>
          <a:xfrm>
            <a:off x="8522208" y="2852928"/>
            <a:ext cx="329184" cy="41148"/>
          </a:xfrm>
          <a:prstGeom prst="rect">
            <a:avLst/>
          </a:prstGeom>
          <a:solidFill>
            <a:srgbClr val="C8A45D"/>
          </a:solidFill>
          <a:ln>
            <a:noFill/>
          </a:ln>
        </p:spPr>
        <p:txBody>
          <a:bodyPr/>
          <a:lstStyle/>
          <a:p/>
        </p:txBody>
      </p:sp>
      <p:sp>
        <p:nvSpPr>
          <p:cNvPr id="22" name="实践价值 text"/>
          <p:cNvSpPr txBox="1"/>
          <p:nvPr/>
        </p:nvSpPr>
        <p:spPr>
          <a:xfrm>
            <a:off x="8577072" y="2980944"/>
            <a:ext cx="2423160" cy="1618488"/>
          </a:xfrm>
          <a:prstGeom prst="rect">
            <a:avLst/>
          </a:prstGeom>
          <a:noFill/>
          <a:ln>
            <a:noFill/>
          </a:ln>
        </p:spPr>
        <p:txBody>
          <a:bodyPr wrap="square" anchor="t" lIns="0" rIns="0" tIns="0" bIns="0"/>
          <a:lstStyle/>
          <a:p>
            <a:pPr algn="l" marL="0" indent="0" spcBef="0" spcAft="65000">
              <a:buNone/>
            </a:pPr>
            <a:r>
              <a:rPr lang="zh-CN" sz="1280" b="1">
                <a:solidFill>
                  <a:srgbClr val="EAF2FF"/>
                </a:solidFill>
                <a:latin typeface="Aptos"/>
                <a:ea typeface="Microsoft YaHei"/>
              </a:rPr>
              <a:t>实践价值</a:t>
            </a:r>
          </a:p>
          <a:p>
            <a:pPr algn="l" marL="457200" indent="-228600" spcBef="0" spcAft="26000">
              <a:buChar char="•"/>
            </a:pPr>
            <a:r>
              <a:rPr lang="zh-CN" sz="920">
                <a:solidFill>
                  <a:srgbClr val="A9B8CC"/>
                </a:solidFill>
                <a:latin typeface="Aptos"/>
                <a:ea typeface="Microsoft YaHei"/>
              </a:rPr>
              <a:t>形成建议、指标或方案</a:t>
            </a:r>
          </a:p>
          <a:p>
            <a:pPr algn="l" marL="457200" indent="-228600" spcBef="0" spcAft="26000">
              <a:buChar char="•"/>
            </a:pPr>
            <a:r>
              <a:rPr lang="zh-CN" sz="920">
                <a:solidFill>
                  <a:srgbClr val="A9B8CC"/>
                </a:solidFill>
                <a:latin typeface="Aptos"/>
                <a:ea typeface="Microsoft YaHei"/>
              </a:rPr>
              <a:t>明确应用场景与局限</a:t>
            </a:r>
          </a:p>
        </p:txBody>
      </p:sp>
      <p:sp>
        <p:nvSpPr>
          <p:cNvPr id="23"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24"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thanks logo plate"/>
          <p:cNvSpPr/>
          <p:nvPr/>
        </p:nvSpPr>
        <p:spPr>
          <a:xfrm>
            <a:off x="841248" y="749808"/>
            <a:ext cx="2971800" cy="786384"/>
          </a:xfrm>
          <a:prstGeom prst="roundRect">
            <a:avLst/>
          </a:prstGeom>
          <a:solidFill>
            <a:srgbClr val="F7FBFF">
              <a:alpha val="94000"/>
            </a:srgbClr>
          </a:solidFill>
          <a:ln w="6350">
            <a:solidFill>
              <a:srgbClr val="D9E8F8"/>
            </a:solidFill>
          </a:ln>
        </p:spPr>
        <p:txBody>
          <a:bodyPr/>
          <a:lstStyle/>
          <a:p/>
        </p:txBody>
      </p:sp>
      <p:pic>
        <p:nvPicPr>
          <p:cNvPr id="9" name="SJTU official horizontal logo"/>
          <p:cNvPicPr/>
          <p:nvPr/>
        </p:nvPicPr>
        <p:blipFill>
          <a:blip r:embed="rId3"/>
          <a:stretch>
            <a:fillRect/>
          </a:stretch>
        </p:blipFill>
        <p:spPr>
          <a:xfrm>
            <a:off x="1024128" y="896112"/>
            <a:ext cx="2395728" cy="530352"/>
          </a:xfrm>
          <a:prstGeom prst="rect">
            <a:avLst/>
          </a:prstGeom>
        </p:spPr>
      </p:pic>
      <p:sp>
        <p:nvSpPr>
          <p:cNvPr id="10" name="thanks text"/>
          <p:cNvSpPr txBox="1"/>
          <p:nvPr/>
        </p:nvSpPr>
        <p:spPr>
          <a:xfrm>
            <a:off x="914400" y="2633472"/>
            <a:ext cx="6949440" cy="749808"/>
          </a:xfrm>
          <a:prstGeom prst="rect">
            <a:avLst/>
          </a:prstGeom>
          <a:noFill/>
          <a:ln>
            <a:noFill/>
          </a:ln>
        </p:spPr>
        <p:txBody>
          <a:bodyPr wrap="square" anchor="t" lIns="0" rIns="0" tIns="0" bIns="0"/>
          <a:lstStyle/>
          <a:p>
            <a:pPr algn="l" marL="0" indent="0" spcBef="0" spcAft="0">
              <a:buNone/>
            </a:pPr>
            <a:r>
              <a:rPr lang="zh-CN" sz="3300" b="1">
                <a:solidFill>
                  <a:srgbClr val="EAF2FF"/>
                </a:solidFill>
                <a:latin typeface="Aptos"/>
                <a:ea typeface="Microsoft YaHei"/>
              </a:rPr>
              <a:t>敬请各位老师批评指正</a:t>
            </a:r>
          </a:p>
        </p:txBody>
      </p:sp>
      <p:sp>
        <p:nvSpPr>
          <p:cNvPr id="11" name="thanks accent"/>
          <p:cNvSpPr/>
          <p:nvPr/>
        </p:nvSpPr>
        <p:spPr>
          <a:xfrm>
            <a:off x="932688" y="3657600"/>
            <a:ext cx="1554480" cy="36576"/>
          </a:xfrm>
          <a:prstGeom prst="rect">
            <a:avLst/>
          </a:prstGeom>
          <a:solidFill>
            <a:srgbClr val="77E2FF"/>
          </a:solidFill>
          <a:ln>
            <a:noFill/>
          </a:ln>
        </p:spPr>
        <p:txBody>
          <a:bodyPr/>
          <a:lstStyle/>
          <a:p/>
        </p:txBody>
      </p:sp>
      <p:sp>
        <p:nvSpPr>
          <p:cNvPr id="12" name="thanks contact"/>
          <p:cNvSpPr txBox="1"/>
          <p:nvPr/>
        </p:nvSpPr>
        <p:spPr>
          <a:xfrm>
            <a:off x="932688" y="4187952"/>
            <a:ext cx="6949440" cy="292608"/>
          </a:xfrm>
          <a:prstGeom prst="rect">
            <a:avLst/>
          </a:prstGeom>
          <a:noFill/>
          <a:ln>
            <a:noFill/>
          </a:ln>
        </p:spPr>
        <p:txBody>
          <a:bodyPr wrap="square" anchor="t" lIns="0" rIns="0" tIns="0" bIns="0"/>
          <a:lstStyle/>
          <a:p>
            <a:pPr algn="l" marL="0" indent="0" spcBef="0" spcAft="0">
              <a:buNone/>
            </a:pPr>
            <a:r>
              <a:rPr lang="zh-CN" sz="1120">
                <a:solidFill>
                  <a:srgbClr val="A9B8CC"/>
                </a:solidFill>
                <a:latin typeface="Aptos"/>
                <a:ea typeface="Microsoft YaHei"/>
              </a:rPr>
              <a:t>答辩人：姓名    邮箱：name@sjtu.edu.cn</a:t>
            </a:r>
          </a:p>
        </p:txBody>
      </p:sp>
      <p:sp>
        <p:nvSpPr>
          <p:cNvPr id="13" name="usage"/>
          <p:cNvSpPr txBox="1"/>
          <p:nvPr/>
        </p:nvSpPr>
        <p:spPr>
          <a:xfrm>
            <a:off x="932688" y="5897880"/>
            <a:ext cx="9601200" cy="438912"/>
          </a:xfrm>
          <a:prstGeom prst="rect">
            <a:avLst/>
          </a:prstGeom>
          <a:noFill/>
          <a:ln>
            <a:noFill/>
          </a:ln>
        </p:spPr>
        <p:txBody>
          <a:bodyPr wrap="square" anchor="t" lIns="0" rIns="0" tIns="0" bIns="0"/>
          <a:lstStyle/>
          <a:p>
            <a:pPr algn="l" marL="0" indent="0" spcBef="0" spcAft="0">
              <a:buNone/>
            </a:pPr>
            <a:r>
              <a:rPr lang="zh-CN" sz="790">
                <a:solidFill>
                  <a:srgbClr val="7E92AA"/>
                </a:solidFill>
                <a:latin typeface="Aptos"/>
                <a:ea typeface="Microsoft YaHei"/>
              </a:rPr>
              <a:t>标识来源：上海交通大学视觉形象识别系统官方附件。请勿拉伸、重绘、改色或拼接校徽/校名标志。</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ep blue background"/>
          <p:cNvSpPr/>
          <p:nvPr/>
        </p:nvSpPr>
        <p:spPr>
          <a:xfrm>
            <a:off x="0" y="0"/>
            <a:ext cx="13333333" cy="7500000"/>
          </a:xfrm>
          <a:prstGeom prst="rect">
            <a:avLst/>
          </a:prstGeom>
          <a:solidFill>
            <a:srgbClr val="08111F"/>
          </a:solidFill>
          <a:ln>
            <a:noFill/>
          </a:ln>
        </p:spPr>
        <p:txBody>
          <a:bodyPr/>
          <a:lstStyle/>
          <a:p/>
        </p:txBody>
      </p:sp>
      <p:sp>
        <p:nvSpPr>
          <p:cNvPr id="3" name="soft top wash"/>
          <p:cNvSpPr/>
          <p:nvPr/>
        </p:nvSpPr>
        <p:spPr>
          <a:xfrm>
            <a:off x="0" y="0"/>
            <a:ext cx="13333333" cy="1143000"/>
          </a:xfrm>
          <a:prstGeom prst="rect">
            <a:avLst/>
          </a:prstGeom>
          <a:solidFill>
            <a:srgbClr val="0B1B30"/>
          </a:solidFill>
          <a:ln>
            <a:noFill/>
          </a:ln>
        </p:spPr>
        <p:txBody>
          <a:bodyPr/>
          <a:lstStyle/>
          <a:p/>
        </p:txBody>
      </p:sp>
      <p:sp>
        <p:nvSpPr>
          <p:cNvPr id="4" name="bottom depth"/>
          <p:cNvSpPr/>
          <p:nvPr/>
        </p:nvSpPr>
        <p:spPr>
          <a:xfrm>
            <a:off x="0" y="5715000"/>
            <a:ext cx="13333333" cy="1143000"/>
          </a:xfrm>
          <a:prstGeom prst="rect">
            <a:avLst/>
          </a:prstGeom>
          <a:solidFill>
            <a:srgbClr val="050B14"/>
          </a:solidFill>
          <a:ln>
            <a:noFill/>
          </a:ln>
        </p:spPr>
        <p:txBody>
          <a:bodyPr/>
          <a:lstStyle/>
          <a:p/>
        </p:txBody>
      </p:sp>
      <p:sp>
        <p:nvSpPr>
          <p:cNvPr id="5" name="left hairline"/>
          <p:cNvSpPr/>
          <p:nvPr/>
        </p:nvSpPr>
        <p:spPr>
          <a:xfrm>
            <a:off x="493776" y="502920"/>
            <a:ext cx="13716" cy="5623560"/>
          </a:xfrm>
          <a:prstGeom prst="rect">
            <a:avLst/>
          </a:prstGeom>
          <a:solidFill>
            <a:srgbClr val="4EA1FF">
              <a:alpha val="65000"/>
            </a:srgbClr>
          </a:solidFill>
          <a:ln>
            <a:noFill/>
          </a:ln>
        </p:spPr>
        <p:txBody>
          <a:bodyPr/>
          <a:lstStyle/>
          <a:p/>
        </p:txBody>
      </p:sp>
      <p:sp>
        <p:nvSpPr>
          <p:cNvPr id="6" name="top hairline"/>
          <p:cNvSpPr/>
          <p:nvPr/>
        </p:nvSpPr>
        <p:spPr>
          <a:xfrm>
            <a:off x="493776" y="502920"/>
            <a:ext cx="10927080" cy="10972"/>
          </a:xfrm>
          <a:prstGeom prst="rect">
            <a:avLst/>
          </a:prstGeom>
          <a:solidFill>
            <a:srgbClr val="77E2FF">
              <a:alpha val="55000"/>
            </a:srgbClr>
          </a:solidFill>
          <a:ln>
            <a:noFill/>
          </a:ln>
        </p:spPr>
        <p:txBody>
          <a:bodyPr/>
          <a:lstStyle/>
          <a:p/>
        </p:txBody>
      </p:sp>
      <p:pic>
        <p:nvPicPr>
          <p:cNvPr id="7" name="SJTU seal watermark"/>
          <p:cNvPicPr/>
          <p:nvPr/>
        </p:nvPicPr>
        <p:blipFill>
          <a:blip r:embed="rId2">
            <a:alphaModFix amt="9000"/>
          </a:blip>
          <a:stretch>
            <a:fillRect/>
          </a:stretch>
        </p:blipFill>
        <p:spPr>
          <a:xfrm>
            <a:off x="7973568" y="960120"/>
            <a:ext cx="3520440" cy="3520440"/>
          </a:xfrm>
          <a:prstGeom prst="rect">
            <a:avLst/>
          </a:prstGeom>
        </p:spPr>
      </p:pic>
      <p:sp>
        <p:nvSpPr>
          <p:cNvPr id="8" name="official logo capsule"/>
          <p:cNvSpPr/>
          <p:nvPr/>
        </p:nvSpPr>
        <p:spPr>
          <a:xfrm>
            <a:off x="713232" y="658368"/>
            <a:ext cx="2331720" cy="658368"/>
          </a:xfrm>
          <a:prstGeom prst="roundRect">
            <a:avLst/>
          </a:prstGeom>
          <a:solidFill>
            <a:srgbClr val="F7FBFF">
              <a:alpha val="93000"/>
            </a:srgbClr>
          </a:solidFill>
          <a:ln w="6350">
            <a:solidFill>
              <a:srgbClr val="D9E8F8">
                <a:alpha val="65000"/>
              </a:srgbClr>
            </a:solidFill>
          </a:ln>
        </p:spPr>
        <p:txBody>
          <a:bodyPr/>
          <a:lstStyle/>
          <a:p/>
        </p:txBody>
      </p:sp>
      <p:pic>
        <p:nvPicPr>
          <p:cNvPr id="9" name="SJTU official horizontal logo"/>
          <p:cNvPicPr/>
          <p:nvPr/>
        </p:nvPicPr>
        <p:blipFill>
          <a:blip r:embed="rId3"/>
          <a:stretch>
            <a:fillRect/>
          </a:stretch>
        </p:blipFill>
        <p:spPr>
          <a:xfrm>
            <a:off x="877824" y="777240"/>
            <a:ext cx="1920240" cy="429768"/>
          </a:xfrm>
          <a:prstGeom prst="rect">
            <a:avLst/>
          </a:prstGeom>
        </p:spPr>
      </p:pic>
      <p:sp>
        <p:nvSpPr>
          <p:cNvPr id="10" name="section label"/>
          <p:cNvSpPr txBox="1"/>
          <p:nvPr/>
        </p:nvSpPr>
        <p:spPr>
          <a:xfrm>
            <a:off x="8778240" y="749808"/>
            <a:ext cx="2651760" cy="256032"/>
          </a:xfrm>
          <a:prstGeom prst="rect">
            <a:avLst/>
          </a:prstGeom>
          <a:noFill/>
          <a:ln>
            <a:noFill/>
          </a:ln>
        </p:spPr>
        <p:txBody>
          <a:bodyPr wrap="square" anchor="t" lIns="0" rIns="0" tIns="0" bIns="0"/>
          <a:lstStyle/>
          <a:p>
            <a:pPr algn="r" marL="0" indent="0" spcBef="0" spcAft="0">
              <a:buNone/>
            </a:pPr>
            <a:r>
              <a:rPr lang="zh-CN" sz="850">
                <a:solidFill>
                  <a:srgbClr val="A9B8CC"/>
                </a:solidFill>
                <a:latin typeface="Aptos"/>
                <a:ea typeface="Microsoft YaHei"/>
              </a:rPr>
              <a:t>APPENDIX</a:t>
            </a:r>
          </a:p>
        </p:txBody>
      </p:sp>
      <p:sp>
        <p:nvSpPr>
          <p:cNvPr id="11" name="kicker"/>
          <p:cNvSpPr txBox="1"/>
          <p:nvPr/>
        </p:nvSpPr>
        <p:spPr>
          <a:xfrm>
            <a:off x="768096" y="1481328"/>
            <a:ext cx="4572000" cy="292608"/>
          </a:xfrm>
          <a:prstGeom prst="rect">
            <a:avLst/>
          </a:prstGeom>
          <a:noFill/>
          <a:ln>
            <a:noFill/>
          </a:ln>
        </p:spPr>
        <p:txBody>
          <a:bodyPr wrap="square" anchor="t" lIns="0" rIns="0" tIns="0" bIns="0"/>
          <a:lstStyle/>
          <a:p>
            <a:pPr algn="l" marL="0" indent="0" spcBef="0" spcAft="0">
              <a:buNone/>
            </a:pPr>
            <a:r>
              <a:rPr lang="zh-CN" sz="900" b="1">
                <a:solidFill>
                  <a:srgbClr val="77E2FF"/>
                </a:solidFill>
                <a:latin typeface="Aptos"/>
                <a:ea typeface="Microsoft YaHei"/>
              </a:rPr>
              <a:t>保留此页便于归档</a:t>
            </a:r>
          </a:p>
        </p:txBody>
      </p:sp>
      <p:sp>
        <p:nvSpPr>
          <p:cNvPr id="12" name="slide title"/>
          <p:cNvSpPr txBox="1"/>
          <p:nvPr/>
        </p:nvSpPr>
        <p:spPr>
          <a:xfrm>
            <a:off x="749808" y="1737360"/>
            <a:ext cx="7863840" cy="658368"/>
          </a:xfrm>
          <a:prstGeom prst="rect">
            <a:avLst/>
          </a:prstGeom>
          <a:noFill/>
          <a:ln>
            <a:noFill/>
          </a:ln>
        </p:spPr>
        <p:txBody>
          <a:bodyPr wrap="square" anchor="t" lIns="0" rIns="0" tIns="0" bIns="0"/>
          <a:lstStyle/>
          <a:p>
            <a:pPr algn="l" marL="0" indent="0" spcBef="0" spcAft="0">
              <a:buNone/>
            </a:pPr>
            <a:r>
              <a:rPr lang="zh-CN" sz="2700" b="1">
                <a:solidFill>
                  <a:srgbClr val="EAF2FF"/>
                </a:solidFill>
                <a:latin typeface="Aptos"/>
                <a:ea typeface="Microsoft YaHei"/>
              </a:rPr>
              <a:t>标识来源与规范说明</a:t>
            </a:r>
          </a:p>
        </p:txBody>
      </p:sp>
      <p:sp>
        <p:nvSpPr>
          <p:cNvPr id="13" name="title rule"/>
          <p:cNvSpPr/>
          <p:nvPr/>
        </p:nvSpPr>
        <p:spPr>
          <a:xfrm>
            <a:off x="768096" y="2523744"/>
            <a:ext cx="1051560" cy="32004"/>
          </a:xfrm>
          <a:prstGeom prst="rect">
            <a:avLst/>
          </a:prstGeom>
          <a:solidFill>
            <a:srgbClr val="77E2FF"/>
          </a:solidFill>
          <a:ln>
            <a:noFill/>
          </a:ln>
        </p:spPr>
        <p:txBody>
          <a:bodyPr/>
          <a:lstStyle/>
          <a:p/>
        </p:txBody>
      </p:sp>
      <p:sp>
        <p:nvSpPr>
          <p:cNvPr id="14" name="source body"/>
          <p:cNvSpPr txBox="1"/>
          <p:nvPr/>
        </p:nvSpPr>
        <p:spPr>
          <a:xfrm>
            <a:off x="932688" y="2606040"/>
            <a:ext cx="9418320" cy="2011680"/>
          </a:xfrm>
          <a:prstGeom prst="rect">
            <a:avLst/>
          </a:prstGeom>
          <a:noFill/>
          <a:ln>
            <a:noFill/>
          </a:ln>
        </p:spPr>
        <p:txBody>
          <a:bodyPr wrap="square" anchor="t" lIns="0" rIns="0" tIns="0" bIns="0"/>
          <a:lstStyle/>
          <a:p>
            <a:pPr algn="l" marL="457200" indent="-228600" spcBef="0" spcAft="52000">
              <a:buChar char="•"/>
            </a:pPr>
            <a:r>
              <a:rPr lang="zh-CN" sz="1120">
                <a:solidFill>
                  <a:srgbClr val="A9B8CC"/>
                </a:solidFill>
                <a:latin typeface="Aptos"/>
                <a:ea typeface="Microsoft YaHei"/>
              </a:rPr>
              <a:t>校徽图片：上海交通大学视觉形象识别系统官方附件“校标-校徽.png”。</a:t>
            </a:r>
          </a:p>
          <a:p>
            <a:pPr algn="l" marL="457200" indent="-228600" spcBef="0" spcAft="52000">
              <a:buChar char="•"/>
            </a:pPr>
            <a:r>
              <a:rPr lang="zh-CN" sz="1120">
                <a:solidFill>
                  <a:srgbClr val="A9B8CC"/>
                </a:solidFill>
                <a:latin typeface="Aptos"/>
                <a:ea typeface="Microsoft YaHei"/>
              </a:rPr>
              <a:t>横版标志：上海交通大学视觉形象识别系统官方附件“校标-标志中英文横版.png”。</a:t>
            </a:r>
          </a:p>
          <a:p>
            <a:pPr algn="l" marL="457200" indent="-228600" spcBef="0" spcAft="52000">
              <a:buChar char="•"/>
            </a:pPr>
            <a:r>
              <a:rPr lang="zh-CN" sz="1120">
                <a:solidFill>
                  <a:srgbClr val="A9B8CC"/>
                </a:solidFill>
                <a:latin typeface="Aptos"/>
                <a:ea typeface="Microsoft YaHei"/>
              </a:rPr>
              <a:t>本深蓝模板未重绘、改色或拆分标志；深色页面中用浅色底板承载官方彩色标志。</a:t>
            </a:r>
          </a:p>
          <a:p>
            <a:pPr algn="l" marL="457200" indent="-228600" spcBef="0" spcAft="52000">
              <a:buChar char="•"/>
            </a:pPr>
            <a:r>
              <a:rPr lang="zh-CN" sz="1120">
                <a:solidFill>
                  <a:srgbClr val="A9B8CC"/>
                </a:solidFill>
                <a:latin typeface="Aptos"/>
                <a:ea typeface="Microsoft YaHei"/>
              </a:rPr>
              <a:t>如需其他格式或最新规范，请以学校官方 VI 页面发布内容为准。</a:t>
            </a:r>
          </a:p>
        </p:txBody>
      </p:sp>
      <p:sp>
        <p:nvSpPr>
          <p:cNvPr id="15" name="source url"/>
          <p:cNvSpPr txBox="1"/>
          <p:nvPr/>
        </p:nvSpPr>
        <p:spPr>
          <a:xfrm>
            <a:off x="932688" y="5230368"/>
            <a:ext cx="9509760" cy="292608"/>
          </a:xfrm>
          <a:prstGeom prst="rect">
            <a:avLst/>
          </a:prstGeom>
          <a:noFill/>
          <a:ln>
            <a:noFill/>
          </a:ln>
        </p:spPr>
        <p:txBody>
          <a:bodyPr wrap="square" anchor="t" lIns="0" rIns="0" tIns="0" bIns="0"/>
          <a:lstStyle/>
          <a:p>
            <a:pPr algn="l" marL="0" indent="0" spcBef="0" spcAft="0">
              <a:buNone/>
            </a:pPr>
            <a:r>
              <a:rPr lang="zh-CN" sz="1020" b="1">
                <a:solidFill>
                  <a:srgbClr val="77E2FF"/>
                </a:solidFill>
                <a:latin typeface="Aptos"/>
                <a:ea typeface="Microsoft YaHei"/>
              </a:rPr>
              <a:t>官方页面：https://vi.sjtu.edu.cn/index.php/articles/bulletin/13</a:t>
            </a:r>
          </a:p>
        </p:txBody>
      </p:sp>
      <p:sp>
        <p:nvSpPr>
          <p:cNvPr id="16" name="footer"/>
          <p:cNvSpPr txBox="1"/>
          <p:nvPr/>
        </p:nvSpPr>
        <p:spPr>
          <a:xfrm>
            <a:off x="768096" y="6446520"/>
            <a:ext cx="4389120" cy="201168"/>
          </a:xfrm>
          <a:prstGeom prst="rect">
            <a:avLst/>
          </a:prstGeom>
          <a:noFill/>
          <a:ln>
            <a:noFill/>
          </a:ln>
        </p:spPr>
        <p:txBody>
          <a:bodyPr wrap="square" anchor="t" lIns="0" rIns="0" tIns="0" bIns="0"/>
          <a:lstStyle/>
          <a:p>
            <a:pPr algn="l" marL="0" indent="0" spcBef="0" spcAft="0">
              <a:buNone/>
            </a:pPr>
            <a:r>
              <a:rPr lang="zh-CN" sz="720">
                <a:solidFill>
                  <a:srgbClr val="7891AD"/>
                </a:solidFill>
                <a:latin typeface="Aptos"/>
                <a:ea typeface="Microsoft YaHei"/>
              </a:rPr>
              <a:t>上海交通大学 | 开题答辩深蓝模板</a:t>
            </a:r>
          </a:p>
        </p:txBody>
      </p:sp>
      <p:sp>
        <p:nvSpPr>
          <p:cNvPr id="17" name="page"/>
          <p:cNvSpPr txBox="1"/>
          <p:nvPr/>
        </p:nvSpPr>
        <p:spPr>
          <a:xfrm>
            <a:off x="10972800" y="6437376"/>
            <a:ext cx="502920" cy="219456"/>
          </a:xfrm>
          <a:prstGeom prst="rect">
            <a:avLst/>
          </a:prstGeom>
          <a:noFill/>
          <a:ln>
            <a:noFill/>
          </a:ln>
        </p:spPr>
        <p:txBody>
          <a:bodyPr wrap="square" anchor="t" lIns="0" rIns="0" tIns="0" bIns="0"/>
          <a:lstStyle/>
          <a:p>
            <a:pPr algn="r" marL="0" indent="0" spcBef="0" spcAft="0">
              <a:buNone/>
            </a:pPr>
            <a:r>
              <a:rPr lang="zh-CN" sz="780">
                <a:solidFill>
                  <a:srgbClr val="7891AD"/>
                </a:solidFill>
                <a:latin typeface="Aptos"/>
                <a:ea typeface="Microsoft YaHei"/>
              </a:rPr>
              <a:t>12</a:t>
            </a:r>
          </a:p>
        </p:txBody>
      </p:sp>
    </p:spTree>
  </p:cSld>
  <p:clrMapOvr>
    <a:masterClrMapping/>
  </p:clrMapOvr>
</p:sld>
</file>

<file path=ppt/theme/theme1.xml><?xml version="1.0" encoding="utf-8"?>
<a:theme xmlns:a="http://schemas.openxmlformats.org/drawingml/2006/main" name="SJTU Proposal Theme">
  <a:themeElements>
    <a:clrScheme name="SJTU">
      <a:dk1>
        <a:srgbClr val="2B2B2B"/>
      </a:dk1>
      <a:lt1>
        <a:srgbClr val="FFFFFF"/>
      </a:lt1>
      <a:dk2>
        <a:srgbClr val="B01F24"/>
      </a:dk2>
      <a:lt2>
        <a:srgbClr val="F7F5F2"/>
      </a:lt2>
      <a:accent1>
        <a:srgbClr val="B01F24"/>
      </a:accent1>
      <a:accent2>
        <a:srgbClr val="C8A45D"/>
      </a:accent2>
      <a:accent3>
        <a:srgbClr val="2F6F73"/>
      </a:accent3>
      <a:accent4>
        <a:srgbClr val="4D5B50"/>
      </a:accent4>
      <a:accent5>
        <a:srgbClr val="8A6D3B"/>
      </a:accent5>
      <a:accent6>
        <a:srgbClr val="5F6368"/>
      </a:accent6>
      <a:hlink>
        <a:srgbClr val="B01F24"/>
      </a:hlink>
      <a:folHlink>
        <a:srgbClr val="7A1B1D"/>
      </a:folHlink>
    </a:clrScheme>
    <a:fontScheme name="SJTU Fonts">
      <a:majorFont>
        <a:latin typeface="Aptos Display"/>
        <a:ea typeface="Microsoft YaHei"/>
      </a:majorFont>
      <a:minorFont>
        <a:latin typeface="Aptos"/>
        <a:ea typeface="Microsoft YaHei"/>
      </a:minorFont>
    </a:fontScheme>
    <a:fmtScheme name="SJTU Format">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PowerPoint</Application>
  <PresentationFormat>On-screen Show (16:9)</PresentationFormat>
  <Slides>12</Slides>
  <Company>上海交通大学</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上海交通大学开题答辩PPT模板_深蓝苹果风</dc:title>
  <dc:subject>开题答辩模板</dc:subject>
  <dc:creator>Codex</dc:creator>
  <cp:keywords>上海交通大学; SJTU; 开题答辩; PPT模板; 深蓝; Apple style</cp:keywords>
  <dc:description>使用上海交通大学视觉形象识别系统官方附件生成的深蓝苹果风开题答辩模板。</dc:description>
  <cp:lastModifiedBy>Codex</cp:lastModifiedBy>
  <dcterms:created xsi:type="dcterms:W3CDTF">2026-07-10T00:00:00Z</dcterms:created>
  <dcterms:modified xsi:type="dcterms:W3CDTF">2026-07-10T00:00:00Z</dcterms:modified>
</cp:coreProperties>
</file>