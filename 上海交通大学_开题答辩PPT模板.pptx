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2"/>
  </p:sldMasterIdLst>
  <p:sldIdLst>
    <p:sldId id="256" r:id="rId1"/>
    <p:sldId id="257" r:id="rId2"/>
    <p:sldId id="258" r:id="rId3"/>
    <p:sldId id="259" r:id="rId4"/>
    <p:sldId id="260" r:id="rId5"/>
    <p:sldId id="261" r:id="rId6"/>
    <p:sldId id="262" r:id="rId7"/>
    <p:sldId id="263" r:id="rId8"/>
    <p:sldId id="264" r:id="rId9"/>
    <p:sldId id="265" r:id="rId10"/>
    <p:sldId id="266" r:id="rId11"/>
  </p:sldIdLst>
  <p:sldSz cx="13333333" cy="7500000" type="wide"/>
  <p:notesSz cx="6858000" cy="9144000"/>
  <p:defaultTextStyle>
    <a:defPPr>
      <a:defRPr lang="zh-CN">
        <a:latin typeface="Aptos"/>
        <a:ea typeface="Microsoft YaHei"/>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0" y="0"/>
      </p:cViewPr>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Master" Target="slideMasters/slideMaster1.xml"/><Relationship Id="rId13" Type="http://schemas.openxmlformats.org/officeDocument/2006/relationships/theme" Target="theme/theme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horizontal_logo.png"/><Relationship Id="rId3" Type="http://schemas.openxmlformats.org/officeDocument/2006/relationships/image" Target="../media/sjtu_official_seal.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horizontal_logo.png"/><Relationship Id="rId3" Type="http://schemas.openxmlformats.org/officeDocument/2006/relationships/image" Target="../media/sjtu_official_seal.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left red panel"/>
          <p:cNvSpPr/>
          <p:nvPr/>
        </p:nvSpPr>
        <p:spPr>
          <a:xfrm>
            <a:off x="0" y="0"/>
            <a:ext cx="960120" cy="7500000"/>
          </a:xfrm>
          <a:prstGeom prst="rect">
            <a:avLst/>
          </a:prstGeom>
          <a:solidFill>
            <a:srgbClr val="B01F24"/>
          </a:solidFill>
          <a:ln>
            <a:noFill/>
          </a:ln>
        </p:spPr>
        <p:txBody>
          <a:bodyPr/>
          <a:lstStyle/>
          <a:p/>
        </p:txBody>
      </p:sp>
      <p:sp>
        <p:nvSpPr>
          <p:cNvPr id="4" name="gold pin"/>
          <p:cNvSpPr/>
          <p:nvPr/>
        </p:nvSpPr>
        <p:spPr>
          <a:xfrm>
            <a:off x="841248" y="713232"/>
            <a:ext cx="118872" cy="5394960"/>
          </a:xfrm>
          <a:prstGeom prst="rect">
            <a:avLst/>
          </a:prstGeom>
          <a:solidFill>
            <a:srgbClr val="C8A45D"/>
          </a:solidFill>
          <a:ln>
            <a:noFill/>
          </a:ln>
        </p:spPr>
        <p:txBody>
          <a:bodyPr/>
          <a:lstStyle/>
          <a:p/>
        </p:txBody>
      </p:sp>
      <p:pic>
        <p:nvPicPr>
          <p:cNvPr id="5" name="SJTU official horizontal logo"/>
          <p:cNvPicPr/>
          <p:nvPr/>
        </p:nvPicPr>
        <p:blipFill>
          <a:blip r:embed="rId2"/>
          <a:stretch>
            <a:fillRect/>
          </a:stretch>
        </p:blipFill>
        <p:spPr>
          <a:xfrm>
            <a:off x="1325880" y="530352"/>
            <a:ext cx="2926080" cy="960120"/>
          </a:xfrm>
          <a:prstGeom prst="rect">
            <a:avLst/>
          </a:prstGeom>
        </p:spPr>
      </p:pic>
      <p:pic>
        <p:nvPicPr>
          <p:cNvPr id="6" name="SJTU seal watermark"/>
          <p:cNvPicPr/>
          <p:nvPr/>
        </p:nvPicPr>
        <p:blipFill>
          <a:blip r:embed="rId3">
            <a:alphaModFix amt="13000"/>
          </a:blip>
          <a:stretch>
            <a:fillRect/>
          </a:stretch>
        </p:blipFill>
        <p:spPr>
          <a:xfrm>
            <a:off x="7818120" y="731520"/>
            <a:ext cx="3611880" cy="3611880"/>
          </a:xfrm>
          <a:prstGeom prst="rect">
            <a:avLst/>
          </a:prstGeom>
        </p:spPr>
      </p:pic>
      <p:sp>
        <p:nvSpPr>
          <p:cNvPr id="7" name="defense label"/>
          <p:cNvSpPr txBox="1"/>
          <p:nvPr/>
        </p:nvSpPr>
        <p:spPr>
          <a:xfrm>
            <a:off x="1353312" y="1847088"/>
            <a:ext cx="1920240" cy="329184"/>
          </a:xfrm>
          <a:prstGeom prst="rect">
            <a:avLst/>
          </a:prstGeom>
          <a:noFill/>
          <a:ln>
            <a:noFill/>
          </a:ln>
        </p:spPr>
        <p:txBody>
          <a:bodyPr wrap="square" anchor="t" lIns="0" rIns="0" tIns="0" bIns="0"/>
          <a:lstStyle/>
          <a:p>
            <a:pPr algn="l" marL="0" indent="0" spcBef="0" spcAft="0">
              <a:buNone/>
            </a:pPr>
            <a:r>
              <a:rPr lang="zh-CN" sz="1450" b="1">
                <a:solidFill>
                  <a:srgbClr val="B01F24"/>
                </a:solidFill>
                <a:latin typeface="Aptos"/>
                <a:ea typeface="Microsoft YaHei"/>
              </a:rPr>
              <a:t>开题答辩</a:t>
            </a:r>
          </a:p>
        </p:txBody>
      </p:sp>
      <p:sp>
        <p:nvSpPr>
          <p:cNvPr id="8" name="main title"/>
          <p:cNvSpPr txBox="1"/>
          <p:nvPr/>
        </p:nvSpPr>
        <p:spPr>
          <a:xfrm>
            <a:off x="1325880" y="2331720"/>
            <a:ext cx="7818120" cy="1188720"/>
          </a:xfrm>
          <a:prstGeom prst="rect">
            <a:avLst/>
          </a:prstGeom>
          <a:noFill/>
          <a:ln>
            <a:noFill/>
          </a:ln>
        </p:spPr>
        <p:txBody>
          <a:bodyPr wrap="square" anchor="t" lIns="0" rIns="0" tIns="0" bIns="0"/>
          <a:lstStyle/>
          <a:p>
            <a:pPr algn="l" marL="0" indent="0" spcBef="0" spcAft="0">
              <a:buNone/>
            </a:pPr>
            <a:r>
              <a:rPr lang="zh-CN" sz="3000" b="1">
                <a:solidFill>
                  <a:srgbClr val="2B2B2B"/>
                </a:solidFill>
                <a:latin typeface="Aptos"/>
                <a:ea typeface="Microsoft YaHei"/>
              </a:rPr>
              <a:t>论文题目：在此填写研究课题名称</a:t>
            </a:r>
          </a:p>
        </p:txBody>
      </p:sp>
      <p:sp>
        <p:nvSpPr>
          <p:cNvPr id="9" name="title rule"/>
          <p:cNvSpPr/>
          <p:nvPr/>
        </p:nvSpPr>
        <p:spPr>
          <a:xfrm>
            <a:off x="1353312" y="3675887"/>
            <a:ext cx="1874519" cy="64008"/>
          </a:xfrm>
          <a:prstGeom prst="rect">
            <a:avLst/>
          </a:prstGeom>
          <a:solidFill>
            <a:srgbClr val="B01F24"/>
          </a:solidFill>
          <a:ln>
            <a:noFill/>
          </a:ln>
        </p:spPr>
        <p:txBody>
          <a:bodyPr/>
          <a:lstStyle/>
          <a:p/>
        </p:txBody>
      </p:sp>
      <p:sp>
        <p:nvSpPr>
          <p:cNvPr id="10" name="meta"/>
          <p:cNvSpPr txBox="1"/>
          <p:nvPr/>
        </p:nvSpPr>
        <p:spPr>
          <a:xfrm>
            <a:off x="1353312" y="4160520"/>
            <a:ext cx="4663440" cy="1371600"/>
          </a:xfrm>
          <a:prstGeom prst="rect">
            <a:avLst/>
          </a:prstGeom>
          <a:noFill/>
          <a:ln>
            <a:noFill/>
          </a:ln>
        </p:spPr>
        <p:txBody>
          <a:bodyPr wrap="square" anchor="t" lIns="0" rIns="0" tIns="0" bIns="0"/>
          <a:lstStyle/>
          <a:p>
            <a:pPr algn="l" marL="0" indent="0" spcBef="0" spcAft="50000">
              <a:buNone/>
            </a:pPr>
            <a:r>
              <a:rPr lang="zh-CN" sz="1250">
                <a:solidFill>
                  <a:srgbClr val="5F6368"/>
                </a:solidFill>
                <a:latin typeface="Aptos"/>
                <a:ea typeface="Microsoft YaHei"/>
              </a:rPr>
              <a:t>学院 / 系：在此填写</a:t>
            </a:r>
          </a:p>
          <a:p>
            <a:pPr algn="l" marL="0" indent="0" spcBef="0" spcAft="50000">
              <a:buNone/>
            </a:pPr>
            <a:r>
              <a:rPr lang="zh-CN" sz="1250">
                <a:solidFill>
                  <a:srgbClr val="5F6368"/>
                </a:solidFill>
                <a:latin typeface="Aptos"/>
                <a:ea typeface="Microsoft YaHei"/>
              </a:rPr>
              <a:t>答 辩 人：姓名</a:t>
            </a:r>
          </a:p>
          <a:p>
            <a:pPr algn="l" marL="0" indent="0" spcBef="0" spcAft="50000">
              <a:buNone/>
            </a:pPr>
            <a:r>
              <a:rPr lang="zh-CN" sz="1250">
                <a:solidFill>
                  <a:srgbClr val="5F6368"/>
                </a:solidFill>
                <a:latin typeface="Aptos"/>
                <a:ea typeface="Microsoft YaHei"/>
              </a:rPr>
              <a:t>指导教师：姓名 职称</a:t>
            </a:r>
          </a:p>
          <a:p>
            <a:pPr algn="l" marL="0" indent="0" spcBef="0" spcAft="0">
              <a:buNone/>
            </a:pPr>
            <a:r>
              <a:rPr lang="zh-CN" sz="1250">
                <a:solidFill>
                  <a:srgbClr val="5F6368"/>
                </a:solidFill>
                <a:latin typeface="Aptos"/>
                <a:ea typeface="Microsoft YaHei"/>
              </a:rPr>
              <a:t>日    期：2026年 月 日</a:t>
            </a:r>
          </a:p>
        </p:txBody>
      </p:sp>
      <p:sp>
        <p:nvSpPr>
          <p:cNvPr id="11" name="source note"/>
          <p:cNvSpPr txBox="1"/>
          <p:nvPr/>
        </p:nvSpPr>
        <p:spPr>
          <a:xfrm>
            <a:off x="1353312" y="6236208"/>
            <a:ext cx="8778240" cy="256032"/>
          </a:xfrm>
          <a:prstGeom prst="rect">
            <a:avLst/>
          </a:prstGeom>
          <a:noFill/>
          <a:ln>
            <a:noFill/>
          </a:ln>
        </p:spPr>
        <p:txBody>
          <a:bodyPr wrap="square" anchor="t" lIns="0" rIns="0" tIns="0" bIns="0"/>
          <a:lstStyle/>
          <a:p>
            <a:pPr algn="l" marL="0" indent="0" spcBef="0" spcAft="0">
              <a:buNone/>
            </a:pPr>
            <a:r>
              <a:rPr lang="zh-CN" sz="850">
                <a:solidFill>
                  <a:srgbClr val="5F6368"/>
                </a:solidFill>
                <a:latin typeface="Aptos"/>
                <a:ea typeface="Microsoft YaHei"/>
              </a:rPr>
              <a:t>标识素材来源：上海交通大学视觉形象识别系统（vi.sjtu.edu.cn）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CONTENTS</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汇报提纲</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建议控制在 15-20 分钟，可按学院要求增删</a:t>
            </a:r>
          </a:p>
        </p:txBody>
      </p:sp>
      <p:sp>
        <p:nvSpPr>
          <p:cNvPr id="11" name="agenda 01"/>
          <p:cNvSpPr/>
          <p:nvPr/>
        </p:nvSpPr>
        <p:spPr>
          <a:xfrm>
            <a:off x="896112" y="1993392"/>
            <a:ext cx="493776" cy="402336"/>
          </a:xfrm>
          <a:prstGeom prst="roundRect">
            <a:avLst/>
          </a:prstGeom>
          <a:solidFill>
            <a:srgbClr val="B01F24"/>
          </a:solidFill>
          <a:ln>
            <a:noFill/>
          </a:ln>
        </p:spPr>
        <p:txBody>
          <a:bodyPr/>
          <a:lstStyle/>
          <a:p/>
        </p:txBody>
      </p:sp>
      <p:sp>
        <p:nvSpPr>
          <p:cNvPr id="12" name="agenda num 01"/>
          <p:cNvSpPr txBox="1"/>
          <p:nvPr/>
        </p:nvSpPr>
        <p:spPr>
          <a:xfrm>
            <a:off x="896112" y="2057400"/>
            <a:ext cx="493776" cy="164592"/>
          </a:xfrm>
          <a:prstGeom prst="rect">
            <a:avLst/>
          </a:prstGeom>
          <a:noFill/>
          <a:ln>
            <a:noFill/>
          </a:ln>
        </p:spPr>
        <p:txBody>
          <a:bodyPr wrap="square" anchor="t" lIns="0" rIns="0" tIns="0" bIns="0"/>
          <a:lstStyle/>
          <a:p>
            <a:pPr algn="ctr" marL="0" indent="0" spcBef="0" spcAft="0">
              <a:buNone/>
            </a:pPr>
            <a:r>
              <a:rPr lang="zh-CN" sz="850" b="1">
                <a:solidFill>
                  <a:srgbClr val="FFFFFF"/>
                </a:solidFill>
                <a:latin typeface="Aptos"/>
                <a:ea typeface="Microsoft YaHei"/>
              </a:rPr>
              <a:t>01</a:t>
            </a:r>
          </a:p>
        </p:txBody>
      </p:sp>
      <p:sp>
        <p:nvSpPr>
          <p:cNvPr id="13" name="agenda title 01"/>
          <p:cNvSpPr txBox="1"/>
          <p:nvPr/>
        </p:nvSpPr>
        <p:spPr>
          <a:xfrm>
            <a:off x="1627632" y="1984248"/>
            <a:ext cx="2743200" cy="256032"/>
          </a:xfrm>
          <a:prstGeom prst="rect">
            <a:avLst/>
          </a:prstGeom>
          <a:noFill/>
          <a:ln>
            <a:noFill/>
          </a:ln>
        </p:spPr>
        <p:txBody>
          <a:bodyPr wrap="square" anchor="t" lIns="0" rIns="0" tIns="0" bIns="0"/>
          <a:lstStyle/>
          <a:p>
            <a:pPr algn="l" marL="0" indent="0" spcBef="0" spcAft="0">
              <a:buNone/>
            </a:pPr>
            <a:r>
              <a:rPr lang="zh-CN" sz="1350" b="1">
                <a:solidFill>
                  <a:srgbClr val="2B2B2B"/>
                </a:solidFill>
                <a:latin typeface="Aptos"/>
                <a:ea typeface="Microsoft YaHei"/>
              </a:rPr>
              <a:t>研究背景与问题提出</a:t>
            </a:r>
          </a:p>
        </p:txBody>
      </p:sp>
      <p:sp>
        <p:nvSpPr>
          <p:cNvPr id="14" name="agenda desc 01"/>
          <p:cNvSpPr txBox="1"/>
          <p:nvPr/>
        </p:nvSpPr>
        <p:spPr>
          <a:xfrm>
            <a:off x="4617720" y="2020824"/>
            <a:ext cx="4023360" cy="237744"/>
          </a:xfrm>
          <a:prstGeom prst="rect">
            <a:avLst/>
          </a:prstGeom>
          <a:noFill/>
          <a:ln>
            <a:noFill/>
          </a:ln>
        </p:spPr>
        <p:txBody>
          <a:bodyPr wrap="square" anchor="t" lIns="0" rIns="0" tIns="0" bIns="0"/>
          <a:lstStyle/>
          <a:p>
            <a:pPr algn="l" marL="0" indent="0" spcBef="0" spcAft="0">
              <a:buNone/>
            </a:pPr>
            <a:r>
              <a:rPr lang="zh-CN" sz="1000">
                <a:solidFill>
                  <a:srgbClr val="5F6368"/>
                </a:solidFill>
                <a:latin typeface="Aptos"/>
                <a:ea typeface="Microsoft YaHei"/>
              </a:rPr>
              <a:t>研究对象、现实需求、理论意义</a:t>
            </a:r>
          </a:p>
        </p:txBody>
      </p:sp>
      <p:cxnSp>
        <p:nvCxnSpPr>
          <p:cNvPr id="15" name="agenda line 01"/>
          <p:cNvCxnSpPr/>
          <p:nvPr/>
        </p:nvCxnSpPr>
        <p:spPr>
          <a:xfrm>
            <a:off x="1627632" y="2505456"/>
            <a:ext cx="7104888" cy="0"/>
          </a:xfrm>
          <a:prstGeom prst="line">
            <a:avLst/>
          </a:prstGeom>
          <a:ln w="6350">
            <a:solidFill>
              <a:srgbClr val="DED8D0"/>
            </a:solidFill>
          </a:ln>
        </p:spPr>
      </p:cxnSp>
      <p:sp>
        <p:nvSpPr>
          <p:cNvPr id="16" name="agenda 02"/>
          <p:cNvSpPr/>
          <p:nvPr/>
        </p:nvSpPr>
        <p:spPr>
          <a:xfrm>
            <a:off x="896112" y="2706624"/>
            <a:ext cx="493776" cy="402336"/>
          </a:xfrm>
          <a:prstGeom prst="roundRect">
            <a:avLst/>
          </a:prstGeom>
          <a:solidFill>
            <a:srgbClr val="B01F24"/>
          </a:solidFill>
          <a:ln>
            <a:noFill/>
          </a:ln>
        </p:spPr>
        <p:txBody>
          <a:bodyPr/>
          <a:lstStyle/>
          <a:p/>
        </p:txBody>
      </p:sp>
      <p:sp>
        <p:nvSpPr>
          <p:cNvPr id="17" name="agenda num 02"/>
          <p:cNvSpPr txBox="1"/>
          <p:nvPr/>
        </p:nvSpPr>
        <p:spPr>
          <a:xfrm>
            <a:off x="896112" y="2770632"/>
            <a:ext cx="493776" cy="164592"/>
          </a:xfrm>
          <a:prstGeom prst="rect">
            <a:avLst/>
          </a:prstGeom>
          <a:noFill/>
          <a:ln>
            <a:noFill/>
          </a:ln>
        </p:spPr>
        <p:txBody>
          <a:bodyPr wrap="square" anchor="t" lIns="0" rIns="0" tIns="0" bIns="0"/>
          <a:lstStyle/>
          <a:p>
            <a:pPr algn="ctr" marL="0" indent="0" spcBef="0" spcAft="0">
              <a:buNone/>
            </a:pPr>
            <a:r>
              <a:rPr lang="zh-CN" sz="850" b="1">
                <a:solidFill>
                  <a:srgbClr val="FFFFFF"/>
                </a:solidFill>
                <a:latin typeface="Aptos"/>
                <a:ea typeface="Microsoft YaHei"/>
              </a:rPr>
              <a:t>02</a:t>
            </a:r>
          </a:p>
        </p:txBody>
      </p:sp>
      <p:sp>
        <p:nvSpPr>
          <p:cNvPr id="18" name="agenda title 02"/>
          <p:cNvSpPr txBox="1"/>
          <p:nvPr/>
        </p:nvSpPr>
        <p:spPr>
          <a:xfrm>
            <a:off x="1627632" y="2697480"/>
            <a:ext cx="2743200" cy="256032"/>
          </a:xfrm>
          <a:prstGeom prst="rect">
            <a:avLst/>
          </a:prstGeom>
          <a:noFill/>
          <a:ln>
            <a:noFill/>
          </a:ln>
        </p:spPr>
        <p:txBody>
          <a:bodyPr wrap="square" anchor="t" lIns="0" rIns="0" tIns="0" bIns="0"/>
          <a:lstStyle/>
          <a:p>
            <a:pPr algn="l" marL="0" indent="0" spcBef="0" spcAft="0">
              <a:buNone/>
            </a:pPr>
            <a:r>
              <a:rPr lang="zh-CN" sz="1350" b="1">
                <a:solidFill>
                  <a:srgbClr val="2B2B2B"/>
                </a:solidFill>
                <a:latin typeface="Aptos"/>
                <a:ea typeface="Microsoft YaHei"/>
              </a:rPr>
              <a:t>文献综述与研究现状</a:t>
            </a:r>
          </a:p>
        </p:txBody>
      </p:sp>
      <p:sp>
        <p:nvSpPr>
          <p:cNvPr id="19" name="agenda desc 02"/>
          <p:cNvSpPr txBox="1"/>
          <p:nvPr/>
        </p:nvSpPr>
        <p:spPr>
          <a:xfrm>
            <a:off x="4617720" y="2734056"/>
            <a:ext cx="4023360" cy="237744"/>
          </a:xfrm>
          <a:prstGeom prst="rect">
            <a:avLst/>
          </a:prstGeom>
          <a:noFill/>
          <a:ln>
            <a:noFill/>
          </a:ln>
        </p:spPr>
        <p:txBody>
          <a:bodyPr wrap="square" anchor="t" lIns="0" rIns="0" tIns="0" bIns="0"/>
          <a:lstStyle/>
          <a:p>
            <a:pPr algn="l" marL="0" indent="0" spcBef="0" spcAft="0">
              <a:buNone/>
            </a:pPr>
            <a:r>
              <a:rPr lang="zh-CN" sz="1000">
                <a:solidFill>
                  <a:srgbClr val="5F6368"/>
                </a:solidFill>
                <a:latin typeface="Aptos"/>
                <a:ea typeface="Microsoft YaHei"/>
              </a:rPr>
              <a:t>关键脉络、争议焦点、研究空白</a:t>
            </a:r>
          </a:p>
        </p:txBody>
      </p:sp>
      <p:cxnSp>
        <p:nvCxnSpPr>
          <p:cNvPr id="20" name="agenda line 02"/>
          <p:cNvCxnSpPr/>
          <p:nvPr/>
        </p:nvCxnSpPr>
        <p:spPr>
          <a:xfrm>
            <a:off x="1627632" y="3218688"/>
            <a:ext cx="7104888" cy="0"/>
          </a:xfrm>
          <a:prstGeom prst="line">
            <a:avLst/>
          </a:prstGeom>
          <a:ln w="6350">
            <a:solidFill>
              <a:srgbClr val="DED8D0"/>
            </a:solidFill>
          </a:ln>
        </p:spPr>
      </p:cxnSp>
      <p:sp>
        <p:nvSpPr>
          <p:cNvPr id="21" name="agenda 03"/>
          <p:cNvSpPr/>
          <p:nvPr/>
        </p:nvSpPr>
        <p:spPr>
          <a:xfrm>
            <a:off x="896112" y="3419856"/>
            <a:ext cx="493776" cy="402336"/>
          </a:xfrm>
          <a:prstGeom prst="roundRect">
            <a:avLst/>
          </a:prstGeom>
          <a:solidFill>
            <a:srgbClr val="B01F24"/>
          </a:solidFill>
          <a:ln>
            <a:noFill/>
          </a:ln>
        </p:spPr>
        <p:txBody>
          <a:bodyPr/>
          <a:lstStyle/>
          <a:p/>
        </p:txBody>
      </p:sp>
      <p:sp>
        <p:nvSpPr>
          <p:cNvPr id="22" name="agenda num 03"/>
          <p:cNvSpPr txBox="1"/>
          <p:nvPr/>
        </p:nvSpPr>
        <p:spPr>
          <a:xfrm>
            <a:off x="896112" y="3483864"/>
            <a:ext cx="493776" cy="164592"/>
          </a:xfrm>
          <a:prstGeom prst="rect">
            <a:avLst/>
          </a:prstGeom>
          <a:noFill/>
          <a:ln>
            <a:noFill/>
          </a:ln>
        </p:spPr>
        <p:txBody>
          <a:bodyPr wrap="square" anchor="t" lIns="0" rIns="0" tIns="0" bIns="0"/>
          <a:lstStyle/>
          <a:p>
            <a:pPr algn="ctr" marL="0" indent="0" spcBef="0" spcAft="0">
              <a:buNone/>
            </a:pPr>
            <a:r>
              <a:rPr lang="zh-CN" sz="850" b="1">
                <a:solidFill>
                  <a:srgbClr val="FFFFFF"/>
                </a:solidFill>
                <a:latin typeface="Aptos"/>
                <a:ea typeface="Microsoft YaHei"/>
              </a:rPr>
              <a:t>03</a:t>
            </a:r>
          </a:p>
        </p:txBody>
      </p:sp>
      <p:sp>
        <p:nvSpPr>
          <p:cNvPr id="23" name="agenda title 03"/>
          <p:cNvSpPr txBox="1"/>
          <p:nvPr/>
        </p:nvSpPr>
        <p:spPr>
          <a:xfrm>
            <a:off x="1627632" y="3410712"/>
            <a:ext cx="2743200" cy="256032"/>
          </a:xfrm>
          <a:prstGeom prst="rect">
            <a:avLst/>
          </a:prstGeom>
          <a:noFill/>
          <a:ln>
            <a:noFill/>
          </a:ln>
        </p:spPr>
        <p:txBody>
          <a:bodyPr wrap="square" anchor="t" lIns="0" rIns="0" tIns="0" bIns="0"/>
          <a:lstStyle/>
          <a:p>
            <a:pPr algn="l" marL="0" indent="0" spcBef="0" spcAft="0">
              <a:buNone/>
            </a:pPr>
            <a:r>
              <a:rPr lang="zh-CN" sz="1350" b="1">
                <a:solidFill>
                  <a:srgbClr val="2B2B2B"/>
                </a:solidFill>
                <a:latin typeface="Aptos"/>
                <a:ea typeface="Microsoft YaHei"/>
              </a:rPr>
              <a:t>研究目标、内容与创新点</a:t>
            </a:r>
          </a:p>
        </p:txBody>
      </p:sp>
      <p:sp>
        <p:nvSpPr>
          <p:cNvPr id="24" name="agenda desc 03"/>
          <p:cNvSpPr txBox="1"/>
          <p:nvPr/>
        </p:nvSpPr>
        <p:spPr>
          <a:xfrm>
            <a:off x="4617720" y="3447288"/>
            <a:ext cx="4023360" cy="237744"/>
          </a:xfrm>
          <a:prstGeom prst="rect">
            <a:avLst/>
          </a:prstGeom>
          <a:noFill/>
          <a:ln>
            <a:noFill/>
          </a:ln>
        </p:spPr>
        <p:txBody>
          <a:bodyPr wrap="square" anchor="t" lIns="0" rIns="0" tIns="0" bIns="0"/>
          <a:lstStyle/>
          <a:p>
            <a:pPr algn="l" marL="0" indent="0" spcBef="0" spcAft="0">
              <a:buNone/>
            </a:pPr>
            <a:r>
              <a:rPr lang="zh-CN" sz="1000">
                <a:solidFill>
                  <a:srgbClr val="5F6368"/>
                </a:solidFill>
                <a:latin typeface="Aptos"/>
                <a:ea typeface="Microsoft YaHei"/>
              </a:rPr>
              <a:t>核心问题、假设或命题、预期贡献</a:t>
            </a:r>
          </a:p>
        </p:txBody>
      </p:sp>
      <p:cxnSp>
        <p:nvCxnSpPr>
          <p:cNvPr id="25" name="agenda line 03"/>
          <p:cNvCxnSpPr/>
          <p:nvPr/>
        </p:nvCxnSpPr>
        <p:spPr>
          <a:xfrm>
            <a:off x="1627632" y="3931920"/>
            <a:ext cx="7104888" cy="0"/>
          </a:xfrm>
          <a:prstGeom prst="line">
            <a:avLst/>
          </a:prstGeom>
          <a:ln w="6350">
            <a:solidFill>
              <a:srgbClr val="DED8D0"/>
            </a:solidFill>
          </a:ln>
        </p:spPr>
      </p:cxnSp>
      <p:sp>
        <p:nvSpPr>
          <p:cNvPr id="26" name="agenda 04"/>
          <p:cNvSpPr/>
          <p:nvPr/>
        </p:nvSpPr>
        <p:spPr>
          <a:xfrm>
            <a:off x="896112" y="4133087"/>
            <a:ext cx="493776" cy="402336"/>
          </a:xfrm>
          <a:prstGeom prst="roundRect">
            <a:avLst/>
          </a:prstGeom>
          <a:solidFill>
            <a:srgbClr val="B01F24"/>
          </a:solidFill>
          <a:ln>
            <a:noFill/>
          </a:ln>
        </p:spPr>
        <p:txBody>
          <a:bodyPr/>
          <a:lstStyle/>
          <a:p/>
        </p:txBody>
      </p:sp>
      <p:sp>
        <p:nvSpPr>
          <p:cNvPr id="27" name="agenda num 04"/>
          <p:cNvSpPr txBox="1"/>
          <p:nvPr/>
        </p:nvSpPr>
        <p:spPr>
          <a:xfrm>
            <a:off x="896112" y="4197096"/>
            <a:ext cx="493776" cy="164592"/>
          </a:xfrm>
          <a:prstGeom prst="rect">
            <a:avLst/>
          </a:prstGeom>
          <a:noFill/>
          <a:ln>
            <a:noFill/>
          </a:ln>
        </p:spPr>
        <p:txBody>
          <a:bodyPr wrap="square" anchor="t" lIns="0" rIns="0" tIns="0" bIns="0"/>
          <a:lstStyle/>
          <a:p>
            <a:pPr algn="ctr" marL="0" indent="0" spcBef="0" spcAft="0">
              <a:buNone/>
            </a:pPr>
            <a:r>
              <a:rPr lang="zh-CN" sz="850" b="1">
                <a:solidFill>
                  <a:srgbClr val="FFFFFF"/>
                </a:solidFill>
                <a:latin typeface="Aptos"/>
                <a:ea typeface="Microsoft YaHei"/>
              </a:rPr>
              <a:t>04</a:t>
            </a:r>
          </a:p>
        </p:txBody>
      </p:sp>
      <p:sp>
        <p:nvSpPr>
          <p:cNvPr id="28" name="agenda title 04"/>
          <p:cNvSpPr txBox="1"/>
          <p:nvPr/>
        </p:nvSpPr>
        <p:spPr>
          <a:xfrm>
            <a:off x="1627632" y="4123944"/>
            <a:ext cx="2743200" cy="256032"/>
          </a:xfrm>
          <a:prstGeom prst="rect">
            <a:avLst/>
          </a:prstGeom>
          <a:noFill/>
          <a:ln>
            <a:noFill/>
          </a:ln>
        </p:spPr>
        <p:txBody>
          <a:bodyPr wrap="square" anchor="t" lIns="0" rIns="0" tIns="0" bIns="0"/>
          <a:lstStyle/>
          <a:p>
            <a:pPr algn="l" marL="0" indent="0" spcBef="0" spcAft="0">
              <a:buNone/>
            </a:pPr>
            <a:r>
              <a:rPr lang="zh-CN" sz="1350" b="1">
                <a:solidFill>
                  <a:srgbClr val="2B2B2B"/>
                </a:solidFill>
                <a:latin typeface="Aptos"/>
                <a:ea typeface="Microsoft YaHei"/>
              </a:rPr>
              <a:t>研究方法与技术路线</a:t>
            </a:r>
          </a:p>
        </p:txBody>
      </p:sp>
      <p:sp>
        <p:nvSpPr>
          <p:cNvPr id="29" name="agenda desc 04"/>
          <p:cNvSpPr txBox="1"/>
          <p:nvPr/>
        </p:nvSpPr>
        <p:spPr>
          <a:xfrm>
            <a:off x="4617720" y="4160520"/>
            <a:ext cx="4023360" cy="237744"/>
          </a:xfrm>
          <a:prstGeom prst="rect">
            <a:avLst/>
          </a:prstGeom>
          <a:noFill/>
          <a:ln>
            <a:noFill/>
          </a:ln>
        </p:spPr>
        <p:txBody>
          <a:bodyPr wrap="square" anchor="t" lIns="0" rIns="0" tIns="0" bIns="0"/>
          <a:lstStyle/>
          <a:p>
            <a:pPr algn="l" marL="0" indent="0" spcBef="0" spcAft="0">
              <a:buNone/>
            </a:pPr>
            <a:r>
              <a:rPr lang="zh-CN" sz="1000">
                <a:solidFill>
                  <a:srgbClr val="5F6368"/>
                </a:solidFill>
                <a:latin typeface="Aptos"/>
                <a:ea typeface="Microsoft YaHei"/>
              </a:rPr>
              <a:t>数据、模型、实验或案例设计</a:t>
            </a:r>
          </a:p>
        </p:txBody>
      </p:sp>
      <p:cxnSp>
        <p:nvCxnSpPr>
          <p:cNvPr id="30" name="agenda line 04"/>
          <p:cNvCxnSpPr/>
          <p:nvPr/>
        </p:nvCxnSpPr>
        <p:spPr>
          <a:xfrm>
            <a:off x="1627632" y="4645152"/>
            <a:ext cx="7104888" cy="0"/>
          </a:xfrm>
          <a:prstGeom prst="line">
            <a:avLst/>
          </a:prstGeom>
          <a:ln w="6350">
            <a:solidFill>
              <a:srgbClr val="DED8D0"/>
            </a:solidFill>
          </a:ln>
        </p:spPr>
      </p:cxnSp>
      <p:sp>
        <p:nvSpPr>
          <p:cNvPr id="31" name="agenda 05"/>
          <p:cNvSpPr/>
          <p:nvPr/>
        </p:nvSpPr>
        <p:spPr>
          <a:xfrm>
            <a:off x="896112" y="4846320"/>
            <a:ext cx="493776" cy="402336"/>
          </a:xfrm>
          <a:prstGeom prst="roundRect">
            <a:avLst/>
          </a:prstGeom>
          <a:solidFill>
            <a:srgbClr val="B01F24"/>
          </a:solidFill>
          <a:ln>
            <a:noFill/>
          </a:ln>
        </p:spPr>
        <p:txBody>
          <a:bodyPr/>
          <a:lstStyle/>
          <a:p/>
        </p:txBody>
      </p:sp>
      <p:sp>
        <p:nvSpPr>
          <p:cNvPr id="32" name="agenda num 05"/>
          <p:cNvSpPr txBox="1"/>
          <p:nvPr/>
        </p:nvSpPr>
        <p:spPr>
          <a:xfrm>
            <a:off x="896112" y="4910328"/>
            <a:ext cx="493776" cy="164592"/>
          </a:xfrm>
          <a:prstGeom prst="rect">
            <a:avLst/>
          </a:prstGeom>
          <a:noFill/>
          <a:ln>
            <a:noFill/>
          </a:ln>
        </p:spPr>
        <p:txBody>
          <a:bodyPr wrap="square" anchor="t" lIns="0" rIns="0" tIns="0" bIns="0"/>
          <a:lstStyle/>
          <a:p>
            <a:pPr algn="ctr" marL="0" indent="0" spcBef="0" spcAft="0">
              <a:buNone/>
            </a:pPr>
            <a:r>
              <a:rPr lang="zh-CN" sz="850" b="1">
                <a:solidFill>
                  <a:srgbClr val="FFFFFF"/>
                </a:solidFill>
                <a:latin typeface="Aptos"/>
                <a:ea typeface="Microsoft YaHei"/>
              </a:rPr>
              <a:t>05</a:t>
            </a:r>
          </a:p>
        </p:txBody>
      </p:sp>
      <p:sp>
        <p:nvSpPr>
          <p:cNvPr id="33" name="agenda title 05"/>
          <p:cNvSpPr txBox="1"/>
          <p:nvPr/>
        </p:nvSpPr>
        <p:spPr>
          <a:xfrm>
            <a:off x="1627632" y="4837176"/>
            <a:ext cx="2743200" cy="256032"/>
          </a:xfrm>
          <a:prstGeom prst="rect">
            <a:avLst/>
          </a:prstGeom>
          <a:noFill/>
          <a:ln>
            <a:noFill/>
          </a:ln>
        </p:spPr>
        <p:txBody>
          <a:bodyPr wrap="square" anchor="t" lIns="0" rIns="0" tIns="0" bIns="0"/>
          <a:lstStyle/>
          <a:p>
            <a:pPr algn="l" marL="0" indent="0" spcBef="0" spcAft="0">
              <a:buNone/>
            </a:pPr>
            <a:r>
              <a:rPr lang="zh-CN" sz="1350" b="1">
                <a:solidFill>
                  <a:srgbClr val="2B2B2B"/>
                </a:solidFill>
                <a:latin typeface="Aptos"/>
                <a:ea typeface="Microsoft YaHei"/>
              </a:rPr>
              <a:t>可行性分析与进度安排</a:t>
            </a:r>
          </a:p>
        </p:txBody>
      </p:sp>
      <p:sp>
        <p:nvSpPr>
          <p:cNvPr id="34" name="agenda desc 05"/>
          <p:cNvSpPr txBox="1"/>
          <p:nvPr/>
        </p:nvSpPr>
        <p:spPr>
          <a:xfrm>
            <a:off x="4617720" y="4873752"/>
            <a:ext cx="4023360" cy="237744"/>
          </a:xfrm>
          <a:prstGeom prst="rect">
            <a:avLst/>
          </a:prstGeom>
          <a:noFill/>
          <a:ln>
            <a:noFill/>
          </a:ln>
        </p:spPr>
        <p:txBody>
          <a:bodyPr wrap="square" anchor="t" lIns="0" rIns="0" tIns="0" bIns="0"/>
          <a:lstStyle/>
          <a:p>
            <a:pPr algn="l" marL="0" indent="0" spcBef="0" spcAft="0">
              <a:buNone/>
            </a:pPr>
            <a:r>
              <a:rPr lang="zh-CN" sz="1000">
                <a:solidFill>
                  <a:srgbClr val="5F6368"/>
                </a:solidFill>
                <a:latin typeface="Aptos"/>
                <a:ea typeface="Microsoft YaHei"/>
              </a:rPr>
              <a:t>基础条件、风险控制、阶段计划</a:t>
            </a:r>
          </a:p>
        </p:txBody>
      </p:sp>
      <p:cxnSp>
        <p:nvCxnSpPr>
          <p:cNvPr id="35" name="agenda line 05"/>
          <p:cNvCxnSpPr/>
          <p:nvPr/>
        </p:nvCxnSpPr>
        <p:spPr>
          <a:xfrm>
            <a:off x="1627632" y="5358384"/>
            <a:ext cx="7104888" cy="0"/>
          </a:xfrm>
          <a:prstGeom prst="line">
            <a:avLst/>
          </a:prstGeom>
          <a:ln w="6350">
            <a:solidFill>
              <a:srgbClr val="DED8D0"/>
            </a:solidFill>
          </a:ln>
        </p:spPr>
      </p:cxnSp>
      <p:sp>
        <p:nvSpPr>
          <p:cNvPr id="36"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37"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01 / BACKGROUND</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研究背景与问题提出</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把“大背景”收束为一个清晰、可研究的问题</a:t>
            </a:r>
          </a:p>
        </p:txBody>
      </p:sp>
      <p:sp>
        <p:nvSpPr>
          <p:cNvPr id="11" name="现实背景 card"/>
          <p:cNvSpPr/>
          <p:nvPr/>
        </p:nvSpPr>
        <p:spPr>
          <a:xfrm>
            <a:off x="841248" y="1874519"/>
            <a:ext cx="3246120" cy="3383280"/>
          </a:xfrm>
          <a:prstGeom prst="roundRect">
            <a:avLst/>
          </a:prstGeom>
          <a:solidFill>
            <a:srgbClr val="FFFFFF"/>
          </a:solidFill>
          <a:ln w="6350">
            <a:solidFill>
              <a:srgbClr val="E6E1DA"/>
            </a:solidFill>
          </a:ln>
        </p:spPr>
        <p:txBody>
          <a:bodyPr/>
          <a:lstStyle/>
          <a:p/>
        </p:txBody>
      </p:sp>
      <p:sp>
        <p:nvSpPr>
          <p:cNvPr id="12" name="现实背景 accent"/>
          <p:cNvSpPr/>
          <p:nvPr/>
        </p:nvSpPr>
        <p:spPr>
          <a:xfrm>
            <a:off x="841248" y="1874519"/>
            <a:ext cx="73152" cy="3383280"/>
          </a:xfrm>
          <a:prstGeom prst="rect">
            <a:avLst/>
          </a:prstGeom>
          <a:solidFill>
            <a:srgbClr val="B01F24"/>
          </a:solidFill>
          <a:ln>
            <a:noFill/>
          </a:ln>
        </p:spPr>
        <p:txBody>
          <a:bodyPr/>
          <a:lstStyle/>
          <a:p/>
        </p:txBody>
      </p:sp>
      <p:sp>
        <p:nvSpPr>
          <p:cNvPr id="13" name="现实背景 text"/>
          <p:cNvSpPr txBox="1"/>
          <p:nvPr/>
        </p:nvSpPr>
        <p:spPr>
          <a:xfrm>
            <a:off x="1060704" y="2039112"/>
            <a:ext cx="2862072" cy="3108960"/>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现实背景</a:t>
            </a:r>
          </a:p>
          <a:p>
            <a:pPr algn="l" marL="457200" indent="-228600" spcBef="0" spcAft="30000">
              <a:buChar char="•"/>
            </a:pPr>
            <a:r>
              <a:rPr lang="zh-CN" sz="1050">
                <a:solidFill>
                  <a:srgbClr val="5F6368"/>
                </a:solidFill>
                <a:latin typeface="Aptos"/>
                <a:ea typeface="Microsoft YaHei"/>
              </a:rPr>
              <a:t>行业/领域正在发生的关键变化</a:t>
            </a:r>
          </a:p>
          <a:p>
            <a:pPr algn="l" marL="457200" indent="-228600" spcBef="0" spcAft="30000">
              <a:buChar char="•"/>
            </a:pPr>
            <a:r>
              <a:rPr lang="zh-CN" sz="1050">
                <a:solidFill>
                  <a:srgbClr val="5F6368"/>
                </a:solidFill>
                <a:latin typeface="Aptos"/>
                <a:ea typeface="Microsoft YaHei"/>
              </a:rPr>
              <a:t>已有实践中的痛点或未满足需求</a:t>
            </a:r>
          </a:p>
          <a:p>
            <a:pPr algn="l" marL="457200" indent="-228600" spcBef="0" spcAft="30000">
              <a:buChar char="•"/>
            </a:pPr>
            <a:r>
              <a:rPr lang="zh-CN" sz="1050">
                <a:solidFill>
                  <a:srgbClr val="5F6368"/>
                </a:solidFill>
                <a:latin typeface="Aptos"/>
                <a:ea typeface="Microsoft YaHei"/>
              </a:rPr>
              <a:t>研究问题的重要性与紧迫性</a:t>
            </a:r>
          </a:p>
        </p:txBody>
      </p:sp>
      <p:sp>
        <p:nvSpPr>
          <p:cNvPr id="14" name="理论背景 card"/>
          <p:cNvSpPr/>
          <p:nvPr/>
        </p:nvSpPr>
        <p:spPr>
          <a:xfrm>
            <a:off x="4480560" y="1874519"/>
            <a:ext cx="3246120" cy="3383280"/>
          </a:xfrm>
          <a:prstGeom prst="roundRect">
            <a:avLst/>
          </a:prstGeom>
          <a:solidFill>
            <a:srgbClr val="FFFFFF"/>
          </a:solidFill>
          <a:ln w="6350">
            <a:solidFill>
              <a:srgbClr val="E6E1DA"/>
            </a:solidFill>
          </a:ln>
        </p:spPr>
        <p:txBody>
          <a:bodyPr/>
          <a:lstStyle/>
          <a:p/>
        </p:txBody>
      </p:sp>
      <p:sp>
        <p:nvSpPr>
          <p:cNvPr id="15" name="理论背景 accent"/>
          <p:cNvSpPr/>
          <p:nvPr/>
        </p:nvSpPr>
        <p:spPr>
          <a:xfrm>
            <a:off x="4480560" y="1874519"/>
            <a:ext cx="73152" cy="3383280"/>
          </a:xfrm>
          <a:prstGeom prst="rect">
            <a:avLst/>
          </a:prstGeom>
          <a:solidFill>
            <a:srgbClr val="C8A45D"/>
          </a:solidFill>
          <a:ln>
            <a:noFill/>
          </a:ln>
        </p:spPr>
        <p:txBody>
          <a:bodyPr/>
          <a:lstStyle/>
          <a:p/>
        </p:txBody>
      </p:sp>
      <p:sp>
        <p:nvSpPr>
          <p:cNvPr id="16" name="理论背景 text"/>
          <p:cNvSpPr txBox="1"/>
          <p:nvPr/>
        </p:nvSpPr>
        <p:spPr>
          <a:xfrm>
            <a:off x="4700016" y="2039112"/>
            <a:ext cx="2862072" cy="3108960"/>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理论背景</a:t>
            </a:r>
          </a:p>
          <a:p>
            <a:pPr algn="l" marL="457200" indent="-228600" spcBef="0" spcAft="30000">
              <a:buChar char="•"/>
            </a:pPr>
            <a:r>
              <a:rPr lang="zh-CN" sz="1050">
                <a:solidFill>
                  <a:srgbClr val="5F6368"/>
                </a:solidFill>
                <a:latin typeface="Aptos"/>
                <a:ea typeface="Microsoft YaHei"/>
              </a:rPr>
              <a:t>相关理论或学科脉络</a:t>
            </a:r>
          </a:p>
          <a:p>
            <a:pPr algn="l" marL="457200" indent="-228600" spcBef="0" spcAft="30000">
              <a:buChar char="•"/>
            </a:pPr>
            <a:r>
              <a:rPr lang="zh-CN" sz="1050">
                <a:solidFill>
                  <a:srgbClr val="5F6368"/>
                </a:solidFill>
                <a:latin typeface="Aptos"/>
                <a:ea typeface="Microsoft YaHei"/>
              </a:rPr>
              <a:t>已有研究的解释边界</a:t>
            </a:r>
          </a:p>
          <a:p>
            <a:pPr algn="l" marL="457200" indent="-228600" spcBef="0" spcAft="30000">
              <a:buChar char="•"/>
            </a:pPr>
            <a:r>
              <a:rPr lang="zh-CN" sz="1050">
                <a:solidFill>
                  <a:srgbClr val="5F6368"/>
                </a:solidFill>
                <a:latin typeface="Aptos"/>
                <a:ea typeface="Microsoft YaHei"/>
              </a:rPr>
              <a:t>需要进一步澄清的概念或机制</a:t>
            </a:r>
          </a:p>
        </p:txBody>
      </p:sp>
      <p:sp>
        <p:nvSpPr>
          <p:cNvPr id="17" name="问题提出 card"/>
          <p:cNvSpPr/>
          <p:nvPr/>
        </p:nvSpPr>
        <p:spPr>
          <a:xfrm>
            <a:off x="8119872" y="1874519"/>
            <a:ext cx="2971800" cy="3383280"/>
          </a:xfrm>
          <a:prstGeom prst="roundRect">
            <a:avLst/>
          </a:prstGeom>
          <a:solidFill>
            <a:srgbClr val="FFFFFF"/>
          </a:solidFill>
          <a:ln w="6350">
            <a:solidFill>
              <a:srgbClr val="E6E1DA"/>
            </a:solidFill>
          </a:ln>
        </p:spPr>
        <p:txBody>
          <a:bodyPr/>
          <a:lstStyle/>
          <a:p/>
        </p:txBody>
      </p:sp>
      <p:sp>
        <p:nvSpPr>
          <p:cNvPr id="18" name="问题提出 accent"/>
          <p:cNvSpPr/>
          <p:nvPr/>
        </p:nvSpPr>
        <p:spPr>
          <a:xfrm>
            <a:off x="8119872" y="1874519"/>
            <a:ext cx="73152" cy="3383280"/>
          </a:xfrm>
          <a:prstGeom prst="rect">
            <a:avLst/>
          </a:prstGeom>
          <a:solidFill>
            <a:srgbClr val="4D5B50"/>
          </a:solidFill>
          <a:ln>
            <a:noFill/>
          </a:ln>
        </p:spPr>
        <p:txBody>
          <a:bodyPr/>
          <a:lstStyle/>
          <a:p/>
        </p:txBody>
      </p:sp>
      <p:sp>
        <p:nvSpPr>
          <p:cNvPr id="19" name="问题提出 text"/>
          <p:cNvSpPr txBox="1"/>
          <p:nvPr/>
        </p:nvSpPr>
        <p:spPr>
          <a:xfrm>
            <a:off x="8339328" y="2039112"/>
            <a:ext cx="2587752" cy="3108960"/>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问题提出</a:t>
            </a:r>
          </a:p>
          <a:p>
            <a:pPr algn="l" marL="457200" indent="-228600" spcBef="0" spcAft="30000">
              <a:buChar char="•"/>
            </a:pPr>
            <a:r>
              <a:rPr lang="zh-CN" sz="1050">
                <a:solidFill>
                  <a:srgbClr val="5F6368"/>
                </a:solidFill>
                <a:latin typeface="Aptos"/>
                <a:ea typeface="Microsoft YaHei"/>
              </a:rPr>
              <a:t>本文聚焦的核心问题</a:t>
            </a:r>
          </a:p>
          <a:p>
            <a:pPr algn="l" marL="457200" indent="-228600" spcBef="0" spcAft="30000">
              <a:buChar char="•"/>
            </a:pPr>
            <a:r>
              <a:rPr lang="zh-CN" sz="1050">
                <a:solidFill>
                  <a:srgbClr val="5F6368"/>
                </a:solidFill>
                <a:latin typeface="Aptos"/>
                <a:ea typeface="Microsoft YaHei"/>
              </a:rPr>
              <a:t>研究对象与范围限定</a:t>
            </a:r>
          </a:p>
          <a:p>
            <a:pPr algn="l" marL="457200" indent="-228600" spcBef="0" spcAft="30000">
              <a:buChar char="•"/>
            </a:pPr>
            <a:r>
              <a:rPr lang="zh-CN" sz="1050">
                <a:solidFill>
                  <a:srgbClr val="5F6368"/>
                </a:solidFill>
                <a:latin typeface="Aptos"/>
                <a:ea typeface="Microsoft YaHei"/>
              </a:rPr>
              <a:t>预期回答的关键问题</a:t>
            </a:r>
          </a:p>
        </p:txBody>
      </p:sp>
      <p:sp>
        <p:nvSpPr>
          <p:cNvPr id="20"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21"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02 / LITERATURE</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文献综述与研究现状</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建议按主题、方法或争议线索组织，而不只按作者堆叠</a:t>
            </a:r>
          </a:p>
        </p:txBody>
      </p:sp>
      <p:cxnSp>
        <p:nvCxnSpPr>
          <p:cNvPr id="11" name="timeline"/>
          <p:cNvCxnSpPr/>
          <p:nvPr/>
        </p:nvCxnSpPr>
        <p:spPr>
          <a:xfrm>
            <a:off x="1143000" y="3127248"/>
            <a:ext cx="9326880" cy="0"/>
          </a:xfrm>
          <a:prstGeom prst="line">
            <a:avLst/>
          </a:prstGeom>
          <a:ln w="12700">
            <a:solidFill>
              <a:srgbClr val="CFC7BA"/>
            </a:solidFill>
          </a:ln>
        </p:spPr>
      </p:cxnSp>
      <p:sp>
        <p:nvSpPr>
          <p:cNvPr id="12" name="literature dot 0"/>
          <p:cNvSpPr/>
          <p:nvPr/>
        </p:nvSpPr>
        <p:spPr>
          <a:xfrm>
            <a:off x="1417320" y="2962656"/>
            <a:ext cx="329184" cy="329184"/>
          </a:xfrm>
          <a:prstGeom prst="ellipse">
            <a:avLst/>
          </a:prstGeom>
          <a:solidFill>
            <a:srgbClr val="B01F24"/>
          </a:solidFill>
          <a:ln>
            <a:noFill/>
          </a:ln>
        </p:spPr>
        <p:txBody>
          <a:bodyPr/>
          <a:lstStyle/>
          <a:p/>
        </p:txBody>
      </p:sp>
      <p:sp>
        <p:nvSpPr>
          <p:cNvPr id="13" name="literature title 0"/>
          <p:cNvSpPr txBox="1"/>
          <p:nvPr/>
        </p:nvSpPr>
        <p:spPr>
          <a:xfrm>
            <a:off x="1097280" y="1965960"/>
            <a:ext cx="1874519" cy="329184"/>
          </a:xfrm>
          <a:prstGeom prst="rect">
            <a:avLst/>
          </a:prstGeom>
          <a:noFill/>
          <a:ln>
            <a:noFill/>
          </a:ln>
        </p:spPr>
        <p:txBody>
          <a:bodyPr wrap="square" anchor="t" lIns="0" rIns="0" tIns="0" bIns="0"/>
          <a:lstStyle/>
          <a:p>
            <a:pPr algn="ctr" marL="0" indent="0" spcBef="0" spcAft="0">
              <a:buNone/>
            </a:pPr>
            <a:r>
              <a:rPr lang="zh-CN" sz="1500" b="1">
                <a:solidFill>
                  <a:srgbClr val="2B2B2B"/>
                </a:solidFill>
                <a:latin typeface="Aptos"/>
                <a:ea typeface="Microsoft YaHei"/>
              </a:rPr>
              <a:t>主题一</a:t>
            </a:r>
          </a:p>
        </p:txBody>
      </p:sp>
      <p:sp>
        <p:nvSpPr>
          <p:cNvPr id="14" name="literature body 0"/>
          <p:cNvSpPr txBox="1"/>
          <p:nvPr/>
        </p:nvSpPr>
        <p:spPr>
          <a:xfrm>
            <a:off x="731520" y="3520440"/>
            <a:ext cx="2514600" cy="868680"/>
          </a:xfrm>
          <a:prstGeom prst="rect">
            <a:avLst/>
          </a:prstGeom>
          <a:noFill/>
          <a:ln>
            <a:noFill/>
          </a:ln>
        </p:spPr>
        <p:txBody>
          <a:bodyPr wrap="square" anchor="t" lIns="0" rIns="0" tIns="0" bIns="0"/>
          <a:lstStyle/>
          <a:p>
            <a:pPr algn="ctr" marL="0" indent="0" spcBef="0" spcAft="25000">
              <a:buNone/>
            </a:pPr>
            <a:r>
              <a:rPr lang="zh-CN" sz="1000">
                <a:solidFill>
                  <a:srgbClr val="5F6368"/>
                </a:solidFill>
                <a:latin typeface="Aptos"/>
                <a:ea typeface="Microsoft YaHei"/>
              </a:rPr>
              <a:t>代表文献与主要结论</a:t>
            </a:r>
          </a:p>
          <a:p>
            <a:pPr algn="ctr" marL="0" indent="0" spcBef="0" spcAft="25000">
              <a:buNone/>
            </a:pPr>
            <a:r>
              <a:rPr lang="zh-CN" sz="1000">
                <a:solidFill>
                  <a:srgbClr val="5F6368"/>
                </a:solidFill>
                <a:latin typeface="Aptos"/>
                <a:ea typeface="Microsoft YaHei"/>
              </a:rPr>
              <a:t>可填 2-3 条要点</a:t>
            </a:r>
          </a:p>
        </p:txBody>
      </p:sp>
      <p:sp>
        <p:nvSpPr>
          <p:cNvPr id="15" name="literature dot 1"/>
          <p:cNvSpPr/>
          <p:nvPr/>
        </p:nvSpPr>
        <p:spPr>
          <a:xfrm>
            <a:off x="4754880" y="2962656"/>
            <a:ext cx="329184" cy="329184"/>
          </a:xfrm>
          <a:prstGeom prst="ellipse">
            <a:avLst/>
          </a:prstGeom>
          <a:solidFill>
            <a:srgbClr val="B01F24"/>
          </a:solidFill>
          <a:ln>
            <a:noFill/>
          </a:ln>
        </p:spPr>
        <p:txBody>
          <a:bodyPr/>
          <a:lstStyle/>
          <a:p/>
        </p:txBody>
      </p:sp>
      <p:sp>
        <p:nvSpPr>
          <p:cNvPr id="16" name="literature title 1"/>
          <p:cNvSpPr txBox="1"/>
          <p:nvPr/>
        </p:nvSpPr>
        <p:spPr>
          <a:xfrm>
            <a:off x="4434840" y="1965960"/>
            <a:ext cx="1874519" cy="329184"/>
          </a:xfrm>
          <a:prstGeom prst="rect">
            <a:avLst/>
          </a:prstGeom>
          <a:noFill/>
          <a:ln>
            <a:noFill/>
          </a:ln>
        </p:spPr>
        <p:txBody>
          <a:bodyPr wrap="square" anchor="t" lIns="0" rIns="0" tIns="0" bIns="0"/>
          <a:lstStyle/>
          <a:p>
            <a:pPr algn="ctr" marL="0" indent="0" spcBef="0" spcAft="0">
              <a:buNone/>
            </a:pPr>
            <a:r>
              <a:rPr lang="zh-CN" sz="1500" b="1">
                <a:solidFill>
                  <a:srgbClr val="2B2B2B"/>
                </a:solidFill>
                <a:latin typeface="Aptos"/>
                <a:ea typeface="Microsoft YaHei"/>
              </a:rPr>
              <a:t>主题二</a:t>
            </a:r>
          </a:p>
        </p:txBody>
      </p:sp>
      <p:sp>
        <p:nvSpPr>
          <p:cNvPr id="17" name="literature body 1"/>
          <p:cNvSpPr txBox="1"/>
          <p:nvPr/>
        </p:nvSpPr>
        <p:spPr>
          <a:xfrm>
            <a:off x="4069080" y="3520440"/>
            <a:ext cx="2514600" cy="868680"/>
          </a:xfrm>
          <a:prstGeom prst="rect">
            <a:avLst/>
          </a:prstGeom>
          <a:noFill/>
          <a:ln>
            <a:noFill/>
          </a:ln>
        </p:spPr>
        <p:txBody>
          <a:bodyPr wrap="square" anchor="t" lIns="0" rIns="0" tIns="0" bIns="0"/>
          <a:lstStyle/>
          <a:p>
            <a:pPr algn="ctr" marL="0" indent="0" spcBef="0" spcAft="25000">
              <a:buNone/>
            </a:pPr>
            <a:r>
              <a:rPr lang="zh-CN" sz="1000">
                <a:solidFill>
                  <a:srgbClr val="5F6368"/>
                </a:solidFill>
                <a:latin typeface="Aptos"/>
                <a:ea typeface="Microsoft YaHei"/>
              </a:rPr>
              <a:t>方法或数据演进</a:t>
            </a:r>
          </a:p>
          <a:p>
            <a:pPr algn="ctr" marL="0" indent="0" spcBef="0" spcAft="25000">
              <a:buNone/>
            </a:pPr>
            <a:r>
              <a:rPr lang="zh-CN" sz="1000">
                <a:solidFill>
                  <a:srgbClr val="5F6368"/>
                </a:solidFill>
                <a:latin typeface="Aptos"/>
                <a:ea typeface="Microsoft YaHei"/>
              </a:rPr>
              <a:t>说明适用边界</a:t>
            </a:r>
          </a:p>
        </p:txBody>
      </p:sp>
      <p:sp>
        <p:nvSpPr>
          <p:cNvPr id="18" name="literature dot 2"/>
          <p:cNvSpPr/>
          <p:nvPr/>
        </p:nvSpPr>
        <p:spPr>
          <a:xfrm>
            <a:off x="8092440" y="2962656"/>
            <a:ext cx="329184" cy="329184"/>
          </a:xfrm>
          <a:prstGeom prst="ellipse">
            <a:avLst/>
          </a:prstGeom>
          <a:solidFill>
            <a:srgbClr val="B01F24"/>
          </a:solidFill>
          <a:ln>
            <a:noFill/>
          </a:ln>
        </p:spPr>
        <p:txBody>
          <a:bodyPr/>
          <a:lstStyle/>
          <a:p/>
        </p:txBody>
      </p:sp>
      <p:sp>
        <p:nvSpPr>
          <p:cNvPr id="19" name="literature title 2"/>
          <p:cNvSpPr txBox="1"/>
          <p:nvPr/>
        </p:nvSpPr>
        <p:spPr>
          <a:xfrm>
            <a:off x="7772400" y="1965960"/>
            <a:ext cx="1874519" cy="329184"/>
          </a:xfrm>
          <a:prstGeom prst="rect">
            <a:avLst/>
          </a:prstGeom>
          <a:noFill/>
          <a:ln>
            <a:noFill/>
          </a:ln>
        </p:spPr>
        <p:txBody>
          <a:bodyPr wrap="square" anchor="t" lIns="0" rIns="0" tIns="0" bIns="0"/>
          <a:lstStyle/>
          <a:p>
            <a:pPr algn="ctr" marL="0" indent="0" spcBef="0" spcAft="0">
              <a:buNone/>
            </a:pPr>
            <a:r>
              <a:rPr lang="zh-CN" sz="1500" b="1">
                <a:solidFill>
                  <a:srgbClr val="2B2B2B"/>
                </a:solidFill>
                <a:latin typeface="Aptos"/>
                <a:ea typeface="Microsoft YaHei"/>
              </a:rPr>
              <a:t>主题三</a:t>
            </a:r>
          </a:p>
        </p:txBody>
      </p:sp>
      <p:sp>
        <p:nvSpPr>
          <p:cNvPr id="20" name="literature body 2"/>
          <p:cNvSpPr txBox="1"/>
          <p:nvPr/>
        </p:nvSpPr>
        <p:spPr>
          <a:xfrm>
            <a:off x="7406640" y="3520440"/>
            <a:ext cx="2514600" cy="868680"/>
          </a:xfrm>
          <a:prstGeom prst="rect">
            <a:avLst/>
          </a:prstGeom>
          <a:noFill/>
          <a:ln>
            <a:noFill/>
          </a:ln>
        </p:spPr>
        <p:txBody>
          <a:bodyPr wrap="square" anchor="t" lIns="0" rIns="0" tIns="0" bIns="0"/>
          <a:lstStyle/>
          <a:p>
            <a:pPr algn="ctr" marL="0" indent="0" spcBef="0" spcAft="25000">
              <a:buNone/>
            </a:pPr>
            <a:r>
              <a:rPr lang="zh-CN" sz="1000">
                <a:solidFill>
                  <a:srgbClr val="5F6368"/>
                </a:solidFill>
                <a:latin typeface="Aptos"/>
                <a:ea typeface="Microsoft YaHei"/>
              </a:rPr>
              <a:t>尚未解决的问题</a:t>
            </a:r>
          </a:p>
          <a:p>
            <a:pPr algn="ctr" marL="0" indent="0" spcBef="0" spcAft="25000">
              <a:buNone/>
            </a:pPr>
            <a:r>
              <a:rPr lang="zh-CN" sz="1000">
                <a:solidFill>
                  <a:srgbClr val="5F6368"/>
                </a:solidFill>
                <a:latin typeface="Aptos"/>
                <a:ea typeface="Microsoft YaHei"/>
              </a:rPr>
              <a:t>形成研究空白</a:t>
            </a:r>
          </a:p>
        </p:txBody>
      </p:sp>
      <p:sp>
        <p:nvSpPr>
          <p:cNvPr id="21" name="gap label"/>
          <p:cNvSpPr txBox="1"/>
          <p:nvPr/>
        </p:nvSpPr>
        <p:spPr>
          <a:xfrm>
            <a:off x="1005840" y="5285232"/>
            <a:ext cx="9784080" cy="502920"/>
          </a:xfrm>
          <a:prstGeom prst="rect">
            <a:avLst/>
          </a:prstGeom>
          <a:noFill/>
          <a:ln>
            <a:noFill/>
          </a:ln>
        </p:spPr>
        <p:txBody>
          <a:bodyPr wrap="square" anchor="t" lIns="0" rIns="0" tIns="0" bIns="0"/>
          <a:lstStyle/>
          <a:p>
            <a:pPr algn="ctr" marL="0" indent="0" spcBef="0" spcAft="0">
              <a:buNone/>
            </a:pPr>
            <a:r>
              <a:rPr lang="zh-CN" sz="1400" b="1">
                <a:solidFill>
                  <a:srgbClr val="B01F24"/>
                </a:solidFill>
                <a:latin typeface="Aptos"/>
                <a:ea typeface="Microsoft YaHei"/>
              </a:rPr>
              <a:t>研究空白：请用一句话概括“已有研究尚未充分解释/验证/解决什么”。</a:t>
            </a:r>
          </a:p>
        </p:txBody>
      </p:sp>
      <p:sp>
        <p:nvSpPr>
          <p:cNvPr id="22"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23"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03 / OBJECTIVES</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研究目标、内容与创新点</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把目标写成可检验、可完成的表达</a:t>
            </a:r>
          </a:p>
        </p:txBody>
      </p:sp>
      <p:sp>
        <p:nvSpPr>
          <p:cNvPr id="11" name="研究目标 card"/>
          <p:cNvSpPr/>
          <p:nvPr/>
        </p:nvSpPr>
        <p:spPr>
          <a:xfrm>
            <a:off x="841248" y="1828800"/>
            <a:ext cx="3108960" cy="3547872"/>
          </a:xfrm>
          <a:prstGeom prst="roundRect">
            <a:avLst/>
          </a:prstGeom>
          <a:solidFill>
            <a:srgbClr val="FFFFFF"/>
          </a:solidFill>
          <a:ln w="6350">
            <a:solidFill>
              <a:srgbClr val="E6E1DA"/>
            </a:solidFill>
          </a:ln>
        </p:spPr>
        <p:txBody>
          <a:bodyPr/>
          <a:lstStyle/>
          <a:p/>
        </p:txBody>
      </p:sp>
      <p:sp>
        <p:nvSpPr>
          <p:cNvPr id="12" name="研究目标 accent"/>
          <p:cNvSpPr/>
          <p:nvPr/>
        </p:nvSpPr>
        <p:spPr>
          <a:xfrm>
            <a:off x="841248" y="1828800"/>
            <a:ext cx="73152" cy="3547872"/>
          </a:xfrm>
          <a:prstGeom prst="rect">
            <a:avLst/>
          </a:prstGeom>
          <a:solidFill>
            <a:srgbClr val="B01F24"/>
          </a:solidFill>
          <a:ln>
            <a:noFill/>
          </a:ln>
        </p:spPr>
        <p:txBody>
          <a:bodyPr/>
          <a:lstStyle/>
          <a:p/>
        </p:txBody>
      </p:sp>
      <p:sp>
        <p:nvSpPr>
          <p:cNvPr id="13" name="研究目标 text"/>
          <p:cNvSpPr txBox="1"/>
          <p:nvPr/>
        </p:nvSpPr>
        <p:spPr>
          <a:xfrm>
            <a:off x="1060704" y="1993392"/>
            <a:ext cx="2724912" cy="3273552"/>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研究目标</a:t>
            </a:r>
          </a:p>
          <a:p>
            <a:pPr algn="l" marL="457200" indent="-228600" spcBef="0" spcAft="30000">
              <a:buChar char="•"/>
            </a:pPr>
            <a:r>
              <a:rPr lang="zh-CN" sz="1050">
                <a:solidFill>
                  <a:srgbClr val="5F6368"/>
                </a:solidFill>
                <a:latin typeface="Aptos"/>
                <a:ea typeface="Microsoft YaHei"/>
              </a:rPr>
              <a:t>目标 1：描述要解释或解决的问题</a:t>
            </a:r>
          </a:p>
          <a:p>
            <a:pPr algn="l" marL="457200" indent="-228600" spcBef="0" spcAft="30000">
              <a:buChar char="•"/>
            </a:pPr>
            <a:r>
              <a:rPr lang="zh-CN" sz="1050">
                <a:solidFill>
                  <a:srgbClr val="5F6368"/>
                </a:solidFill>
                <a:latin typeface="Aptos"/>
                <a:ea typeface="Microsoft YaHei"/>
              </a:rPr>
              <a:t>目标 2：描述拟建立的模型/框架</a:t>
            </a:r>
          </a:p>
          <a:p>
            <a:pPr algn="l" marL="457200" indent="-228600" spcBef="0" spcAft="30000">
              <a:buChar char="•"/>
            </a:pPr>
            <a:r>
              <a:rPr lang="zh-CN" sz="1050">
                <a:solidFill>
                  <a:srgbClr val="5F6368"/>
                </a:solidFill>
                <a:latin typeface="Aptos"/>
                <a:ea typeface="Microsoft YaHei"/>
              </a:rPr>
              <a:t>目标 3：描述预期验证或应用结果</a:t>
            </a:r>
          </a:p>
        </p:txBody>
      </p:sp>
      <p:sp>
        <p:nvSpPr>
          <p:cNvPr id="14" name="研究内容 card"/>
          <p:cNvSpPr/>
          <p:nvPr/>
        </p:nvSpPr>
        <p:spPr>
          <a:xfrm>
            <a:off x="4315968" y="1828800"/>
            <a:ext cx="3108960" cy="3547872"/>
          </a:xfrm>
          <a:prstGeom prst="roundRect">
            <a:avLst/>
          </a:prstGeom>
          <a:solidFill>
            <a:srgbClr val="FFFFFF"/>
          </a:solidFill>
          <a:ln w="6350">
            <a:solidFill>
              <a:srgbClr val="E6E1DA"/>
            </a:solidFill>
          </a:ln>
        </p:spPr>
        <p:txBody>
          <a:bodyPr/>
          <a:lstStyle/>
          <a:p/>
        </p:txBody>
      </p:sp>
      <p:sp>
        <p:nvSpPr>
          <p:cNvPr id="15" name="研究内容 accent"/>
          <p:cNvSpPr/>
          <p:nvPr/>
        </p:nvSpPr>
        <p:spPr>
          <a:xfrm>
            <a:off x="4315968" y="1828800"/>
            <a:ext cx="73152" cy="3547872"/>
          </a:xfrm>
          <a:prstGeom prst="rect">
            <a:avLst/>
          </a:prstGeom>
          <a:solidFill>
            <a:srgbClr val="C8A45D"/>
          </a:solidFill>
          <a:ln>
            <a:noFill/>
          </a:ln>
        </p:spPr>
        <p:txBody>
          <a:bodyPr/>
          <a:lstStyle/>
          <a:p/>
        </p:txBody>
      </p:sp>
      <p:sp>
        <p:nvSpPr>
          <p:cNvPr id="16" name="研究内容 text"/>
          <p:cNvSpPr txBox="1"/>
          <p:nvPr/>
        </p:nvSpPr>
        <p:spPr>
          <a:xfrm>
            <a:off x="4535424" y="1993392"/>
            <a:ext cx="2724912" cy="3273552"/>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研究内容</a:t>
            </a:r>
          </a:p>
          <a:p>
            <a:pPr algn="l" marL="457200" indent="-228600" spcBef="0" spcAft="30000">
              <a:buChar char="•"/>
            </a:pPr>
            <a:r>
              <a:rPr lang="zh-CN" sz="1050">
                <a:solidFill>
                  <a:srgbClr val="5F6368"/>
                </a:solidFill>
                <a:latin typeface="Aptos"/>
                <a:ea typeface="Microsoft YaHei"/>
              </a:rPr>
              <a:t>内容 1：概念界定与理论分析</a:t>
            </a:r>
          </a:p>
          <a:p>
            <a:pPr algn="l" marL="457200" indent="-228600" spcBef="0" spcAft="30000">
              <a:buChar char="•"/>
            </a:pPr>
            <a:r>
              <a:rPr lang="zh-CN" sz="1050">
                <a:solidFill>
                  <a:srgbClr val="5F6368"/>
                </a:solidFill>
                <a:latin typeface="Aptos"/>
                <a:ea typeface="Microsoft YaHei"/>
              </a:rPr>
              <a:t>内容 2：数据收集、实验或案例研究</a:t>
            </a:r>
          </a:p>
          <a:p>
            <a:pPr algn="l" marL="457200" indent="-228600" spcBef="0" spcAft="30000">
              <a:buChar char="•"/>
            </a:pPr>
            <a:r>
              <a:rPr lang="zh-CN" sz="1050">
                <a:solidFill>
                  <a:srgbClr val="5F6368"/>
                </a:solidFill>
                <a:latin typeface="Aptos"/>
                <a:ea typeface="Microsoft YaHei"/>
              </a:rPr>
              <a:t>内容 3：结果分析与机制讨论</a:t>
            </a:r>
          </a:p>
        </p:txBody>
      </p:sp>
      <p:sp>
        <p:nvSpPr>
          <p:cNvPr id="17" name="创新点 card"/>
          <p:cNvSpPr/>
          <p:nvPr/>
        </p:nvSpPr>
        <p:spPr>
          <a:xfrm>
            <a:off x="7790688" y="1828800"/>
            <a:ext cx="3108960" cy="3547872"/>
          </a:xfrm>
          <a:prstGeom prst="roundRect">
            <a:avLst/>
          </a:prstGeom>
          <a:solidFill>
            <a:srgbClr val="FFFFFF"/>
          </a:solidFill>
          <a:ln w="6350">
            <a:solidFill>
              <a:srgbClr val="E6E1DA"/>
            </a:solidFill>
          </a:ln>
        </p:spPr>
        <p:txBody>
          <a:bodyPr/>
          <a:lstStyle/>
          <a:p/>
        </p:txBody>
      </p:sp>
      <p:sp>
        <p:nvSpPr>
          <p:cNvPr id="18" name="创新点 accent"/>
          <p:cNvSpPr/>
          <p:nvPr/>
        </p:nvSpPr>
        <p:spPr>
          <a:xfrm>
            <a:off x="7790688" y="1828800"/>
            <a:ext cx="73152" cy="3547872"/>
          </a:xfrm>
          <a:prstGeom prst="rect">
            <a:avLst/>
          </a:prstGeom>
          <a:solidFill>
            <a:srgbClr val="2F6F73"/>
          </a:solidFill>
          <a:ln>
            <a:noFill/>
          </a:ln>
        </p:spPr>
        <p:txBody>
          <a:bodyPr/>
          <a:lstStyle/>
          <a:p/>
        </p:txBody>
      </p:sp>
      <p:sp>
        <p:nvSpPr>
          <p:cNvPr id="19" name="创新点 text"/>
          <p:cNvSpPr txBox="1"/>
          <p:nvPr/>
        </p:nvSpPr>
        <p:spPr>
          <a:xfrm>
            <a:off x="8010144" y="1993392"/>
            <a:ext cx="2724912" cy="3273552"/>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创新点</a:t>
            </a:r>
          </a:p>
          <a:p>
            <a:pPr algn="l" marL="457200" indent="-228600" spcBef="0" spcAft="30000">
              <a:buChar char="•"/>
            </a:pPr>
            <a:r>
              <a:rPr lang="zh-CN" sz="1050">
                <a:solidFill>
                  <a:srgbClr val="5F6368"/>
                </a:solidFill>
                <a:latin typeface="Aptos"/>
                <a:ea typeface="Microsoft YaHei"/>
              </a:rPr>
              <a:t>视角创新：新的研究切入点</a:t>
            </a:r>
          </a:p>
          <a:p>
            <a:pPr algn="l" marL="457200" indent="-228600" spcBef="0" spcAft="30000">
              <a:buChar char="•"/>
            </a:pPr>
            <a:r>
              <a:rPr lang="zh-CN" sz="1050">
                <a:solidFill>
                  <a:srgbClr val="5F6368"/>
                </a:solidFill>
                <a:latin typeface="Aptos"/>
                <a:ea typeface="Microsoft YaHei"/>
              </a:rPr>
              <a:t>方法创新：新的模型/数据/识别策略</a:t>
            </a:r>
          </a:p>
          <a:p>
            <a:pPr algn="l" marL="457200" indent="-228600" spcBef="0" spcAft="30000">
              <a:buChar char="•"/>
            </a:pPr>
            <a:r>
              <a:rPr lang="zh-CN" sz="1050">
                <a:solidFill>
                  <a:srgbClr val="5F6368"/>
                </a:solidFill>
                <a:latin typeface="Aptos"/>
                <a:ea typeface="Microsoft YaHei"/>
              </a:rPr>
              <a:t>应用创新：可落地的解释或工具</a:t>
            </a:r>
          </a:p>
        </p:txBody>
      </p:sp>
      <p:sp>
        <p:nvSpPr>
          <p:cNvPr id="20"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21"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04 / METHOD</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研究方法与技术路线</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用流程图说明“从问题到结论”的路径</a:t>
            </a:r>
          </a:p>
        </p:txBody>
      </p:sp>
      <p:sp>
        <p:nvSpPr>
          <p:cNvPr id="11" name="route step 0"/>
          <p:cNvSpPr/>
          <p:nvPr/>
        </p:nvSpPr>
        <p:spPr>
          <a:xfrm>
            <a:off x="713232" y="2743200"/>
            <a:ext cx="1664208" cy="987552"/>
          </a:xfrm>
          <a:prstGeom prst="roundRect">
            <a:avLst/>
          </a:prstGeom>
          <a:solidFill>
            <a:srgbClr val="B01F24"/>
          </a:solidFill>
          <a:ln>
            <a:noFill/>
          </a:ln>
        </p:spPr>
        <p:txBody>
          <a:bodyPr/>
          <a:lstStyle/>
          <a:p/>
        </p:txBody>
      </p:sp>
      <p:sp>
        <p:nvSpPr>
          <p:cNvPr id="12" name="route text 0"/>
          <p:cNvSpPr txBox="1"/>
          <p:nvPr/>
        </p:nvSpPr>
        <p:spPr>
          <a:xfrm>
            <a:off x="804672" y="2871216"/>
            <a:ext cx="1481328" cy="658368"/>
          </a:xfrm>
          <a:prstGeom prst="rect">
            <a:avLst/>
          </a:prstGeom>
          <a:noFill/>
          <a:ln>
            <a:noFill/>
          </a:ln>
        </p:spPr>
        <p:txBody>
          <a:bodyPr wrap="square" anchor="ctr" lIns="0" rIns="0" tIns="0" bIns="0"/>
          <a:lstStyle/>
          <a:p>
            <a:pPr algn="ctr" marL="0" indent="0" spcBef="0" spcAft="20000">
              <a:buNone/>
            </a:pPr>
            <a:r>
              <a:rPr lang="zh-CN" sz="1150" b="1">
                <a:solidFill>
                  <a:srgbClr val="FFFFFF"/>
                </a:solidFill>
                <a:latin typeface="Aptos"/>
                <a:ea typeface="Microsoft YaHei"/>
              </a:rPr>
              <a:t>问题界定</a:t>
            </a:r>
          </a:p>
          <a:p>
            <a:pPr algn="ctr" marL="0" indent="0" spcBef="0" spcAft="0">
              <a:buNone/>
            </a:pPr>
            <a:r>
              <a:rPr lang="zh-CN" sz="850">
                <a:solidFill>
                  <a:srgbClr val="FFFFFF"/>
                </a:solidFill>
                <a:latin typeface="Aptos"/>
                <a:ea typeface="Microsoft YaHei"/>
              </a:rPr>
              <a:t>研究问题</a:t>
            </a:r>
          </a:p>
          <a:p>
            <a:pPr algn="ctr" marL="0" indent="0" spcBef="0" spcAft="0">
              <a:buNone/>
            </a:pPr>
            <a:r>
              <a:rPr lang="zh-CN" sz="850">
                <a:solidFill>
                  <a:srgbClr val="FFFFFF"/>
                </a:solidFill>
                <a:latin typeface="Aptos"/>
                <a:ea typeface="Microsoft YaHei"/>
              </a:rPr>
              <a:t>变量/概念</a:t>
            </a:r>
          </a:p>
        </p:txBody>
      </p:sp>
      <p:cxnSp>
        <p:nvCxnSpPr>
          <p:cNvPr id="13" name="route arrow line 0"/>
          <p:cNvCxnSpPr/>
          <p:nvPr/>
        </p:nvCxnSpPr>
        <p:spPr>
          <a:xfrm>
            <a:off x="2414016" y="3236976"/>
            <a:ext cx="448056" cy="0"/>
          </a:xfrm>
          <a:prstGeom prst="line">
            <a:avLst/>
          </a:prstGeom>
          <a:ln w="19050">
            <a:solidFill>
              <a:srgbClr val="C8A45D"/>
            </a:solidFill>
          </a:ln>
        </p:spPr>
      </p:cxnSp>
      <p:sp>
        <p:nvSpPr>
          <p:cNvPr id="14" name="route arrow head 0"/>
          <p:cNvSpPr/>
          <p:nvPr/>
        </p:nvSpPr>
        <p:spPr>
          <a:xfrm>
            <a:off x="2788920" y="3154680"/>
            <a:ext cx="146304" cy="146304"/>
          </a:xfrm>
          <a:prstGeom prst="triangle">
            <a:avLst/>
          </a:prstGeom>
          <a:solidFill>
            <a:srgbClr val="C8A45D"/>
          </a:solidFill>
          <a:ln>
            <a:noFill/>
          </a:ln>
        </p:spPr>
        <p:txBody>
          <a:bodyPr/>
          <a:lstStyle/>
          <a:p/>
        </p:txBody>
      </p:sp>
      <p:sp>
        <p:nvSpPr>
          <p:cNvPr id="15" name="route step 1"/>
          <p:cNvSpPr/>
          <p:nvPr/>
        </p:nvSpPr>
        <p:spPr>
          <a:xfrm>
            <a:off x="2980944" y="2743200"/>
            <a:ext cx="1664208" cy="987552"/>
          </a:xfrm>
          <a:prstGeom prst="roundRect">
            <a:avLst/>
          </a:prstGeom>
          <a:solidFill>
            <a:srgbClr val="FFFFFF"/>
          </a:solidFill>
          <a:ln w="9525">
            <a:solidFill>
              <a:srgbClr val="D9D2C6"/>
            </a:solidFill>
          </a:ln>
        </p:spPr>
        <p:txBody>
          <a:bodyPr/>
          <a:lstStyle/>
          <a:p/>
        </p:txBody>
      </p:sp>
      <p:sp>
        <p:nvSpPr>
          <p:cNvPr id="16" name="route text 1"/>
          <p:cNvSpPr txBox="1"/>
          <p:nvPr/>
        </p:nvSpPr>
        <p:spPr>
          <a:xfrm>
            <a:off x="3072384" y="2871216"/>
            <a:ext cx="1481328" cy="658368"/>
          </a:xfrm>
          <a:prstGeom prst="rect">
            <a:avLst/>
          </a:prstGeom>
          <a:noFill/>
          <a:ln>
            <a:noFill/>
          </a:ln>
        </p:spPr>
        <p:txBody>
          <a:bodyPr wrap="square" anchor="ctr" lIns="0" rIns="0" tIns="0" bIns="0"/>
          <a:lstStyle/>
          <a:p>
            <a:pPr algn="ctr" marL="0" indent="0" spcBef="0" spcAft="20000">
              <a:buNone/>
            </a:pPr>
            <a:r>
              <a:rPr lang="zh-CN" sz="1150" b="1">
                <a:solidFill>
                  <a:srgbClr val="2B2B2B"/>
                </a:solidFill>
                <a:latin typeface="Aptos"/>
                <a:ea typeface="Microsoft YaHei"/>
              </a:rPr>
              <a:t>数据与材料</a:t>
            </a:r>
          </a:p>
          <a:p>
            <a:pPr algn="ctr" marL="0" indent="0" spcBef="0" spcAft="0">
              <a:buNone/>
            </a:pPr>
            <a:r>
              <a:rPr lang="zh-CN" sz="850">
                <a:solidFill>
                  <a:srgbClr val="5F6368"/>
                </a:solidFill>
                <a:latin typeface="Aptos"/>
                <a:ea typeface="Microsoft YaHei"/>
              </a:rPr>
              <a:t>数据来源</a:t>
            </a:r>
          </a:p>
          <a:p>
            <a:pPr algn="ctr" marL="0" indent="0" spcBef="0" spcAft="0">
              <a:buNone/>
            </a:pPr>
            <a:r>
              <a:rPr lang="zh-CN" sz="850">
                <a:solidFill>
                  <a:srgbClr val="5F6368"/>
                </a:solidFill>
                <a:latin typeface="Aptos"/>
                <a:ea typeface="Microsoft YaHei"/>
              </a:rPr>
              <a:t>样本范围</a:t>
            </a:r>
          </a:p>
        </p:txBody>
      </p:sp>
      <p:cxnSp>
        <p:nvCxnSpPr>
          <p:cNvPr id="17" name="route arrow line 1"/>
          <p:cNvCxnSpPr/>
          <p:nvPr/>
        </p:nvCxnSpPr>
        <p:spPr>
          <a:xfrm>
            <a:off x="4681728" y="3236976"/>
            <a:ext cx="448055" cy="0"/>
          </a:xfrm>
          <a:prstGeom prst="line">
            <a:avLst/>
          </a:prstGeom>
          <a:ln w="19050">
            <a:solidFill>
              <a:srgbClr val="C8A45D"/>
            </a:solidFill>
          </a:ln>
        </p:spPr>
      </p:cxnSp>
      <p:sp>
        <p:nvSpPr>
          <p:cNvPr id="18" name="route arrow head 1"/>
          <p:cNvSpPr/>
          <p:nvPr/>
        </p:nvSpPr>
        <p:spPr>
          <a:xfrm>
            <a:off x="5056631" y="3154680"/>
            <a:ext cx="146304" cy="146304"/>
          </a:xfrm>
          <a:prstGeom prst="triangle">
            <a:avLst/>
          </a:prstGeom>
          <a:solidFill>
            <a:srgbClr val="C8A45D"/>
          </a:solidFill>
          <a:ln>
            <a:noFill/>
          </a:ln>
        </p:spPr>
        <p:txBody>
          <a:bodyPr/>
          <a:lstStyle/>
          <a:p/>
        </p:txBody>
      </p:sp>
      <p:sp>
        <p:nvSpPr>
          <p:cNvPr id="19" name="route step 2"/>
          <p:cNvSpPr/>
          <p:nvPr/>
        </p:nvSpPr>
        <p:spPr>
          <a:xfrm>
            <a:off x="5248656" y="2743200"/>
            <a:ext cx="1664208" cy="987552"/>
          </a:xfrm>
          <a:prstGeom prst="roundRect">
            <a:avLst/>
          </a:prstGeom>
          <a:solidFill>
            <a:srgbClr val="FFFFFF"/>
          </a:solidFill>
          <a:ln w="9525">
            <a:solidFill>
              <a:srgbClr val="D9D2C6"/>
            </a:solidFill>
          </a:ln>
        </p:spPr>
        <p:txBody>
          <a:bodyPr/>
          <a:lstStyle/>
          <a:p/>
        </p:txBody>
      </p:sp>
      <p:sp>
        <p:nvSpPr>
          <p:cNvPr id="20" name="route text 2"/>
          <p:cNvSpPr txBox="1"/>
          <p:nvPr/>
        </p:nvSpPr>
        <p:spPr>
          <a:xfrm>
            <a:off x="5340096" y="2871216"/>
            <a:ext cx="1481328" cy="658368"/>
          </a:xfrm>
          <a:prstGeom prst="rect">
            <a:avLst/>
          </a:prstGeom>
          <a:noFill/>
          <a:ln>
            <a:noFill/>
          </a:ln>
        </p:spPr>
        <p:txBody>
          <a:bodyPr wrap="square" anchor="ctr" lIns="0" rIns="0" tIns="0" bIns="0"/>
          <a:lstStyle/>
          <a:p>
            <a:pPr algn="ctr" marL="0" indent="0" spcBef="0" spcAft="20000">
              <a:buNone/>
            </a:pPr>
            <a:r>
              <a:rPr lang="zh-CN" sz="1150" b="1">
                <a:solidFill>
                  <a:srgbClr val="2B2B2B"/>
                </a:solidFill>
                <a:latin typeface="Aptos"/>
                <a:ea typeface="Microsoft YaHei"/>
              </a:rPr>
              <a:t>方法设计</a:t>
            </a:r>
          </a:p>
          <a:p>
            <a:pPr algn="ctr" marL="0" indent="0" spcBef="0" spcAft="0">
              <a:buNone/>
            </a:pPr>
            <a:r>
              <a:rPr lang="zh-CN" sz="850">
                <a:solidFill>
                  <a:srgbClr val="5F6368"/>
                </a:solidFill>
                <a:latin typeface="Aptos"/>
                <a:ea typeface="Microsoft YaHei"/>
              </a:rPr>
              <a:t>模型/实验</a:t>
            </a:r>
          </a:p>
          <a:p>
            <a:pPr algn="ctr" marL="0" indent="0" spcBef="0" spcAft="0">
              <a:buNone/>
            </a:pPr>
            <a:r>
              <a:rPr lang="zh-CN" sz="850">
                <a:solidFill>
                  <a:srgbClr val="5F6368"/>
                </a:solidFill>
                <a:latin typeface="Aptos"/>
                <a:ea typeface="Microsoft YaHei"/>
              </a:rPr>
              <a:t>案例框架</a:t>
            </a:r>
          </a:p>
        </p:txBody>
      </p:sp>
      <p:cxnSp>
        <p:nvCxnSpPr>
          <p:cNvPr id="21" name="route arrow line 2"/>
          <p:cNvCxnSpPr/>
          <p:nvPr/>
        </p:nvCxnSpPr>
        <p:spPr>
          <a:xfrm>
            <a:off x="6949440" y="3236976"/>
            <a:ext cx="448056" cy="0"/>
          </a:xfrm>
          <a:prstGeom prst="line">
            <a:avLst/>
          </a:prstGeom>
          <a:ln w="19050">
            <a:solidFill>
              <a:srgbClr val="C8A45D"/>
            </a:solidFill>
          </a:ln>
        </p:spPr>
      </p:cxnSp>
      <p:sp>
        <p:nvSpPr>
          <p:cNvPr id="22" name="route arrow head 2"/>
          <p:cNvSpPr/>
          <p:nvPr/>
        </p:nvSpPr>
        <p:spPr>
          <a:xfrm>
            <a:off x="7324344" y="3154680"/>
            <a:ext cx="146304" cy="146304"/>
          </a:xfrm>
          <a:prstGeom prst="triangle">
            <a:avLst/>
          </a:prstGeom>
          <a:solidFill>
            <a:srgbClr val="C8A45D"/>
          </a:solidFill>
          <a:ln>
            <a:noFill/>
          </a:ln>
        </p:spPr>
        <p:txBody>
          <a:bodyPr/>
          <a:lstStyle/>
          <a:p/>
        </p:txBody>
      </p:sp>
      <p:sp>
        <p:nvSpPr>
          <p:cNvPr id="23" name="route step 3"/>
          <p:cNvSpPr/>
          <p:nvPr/>
        </p:nvSpPr>
        <p:spPr>
          <a:xfrm>
            <a:off x="7516367" y="2743200"/>
            <a:ext cx="1664208" cy="987552"/>
          </a:xfrm>
          <a:prstGeom prst="roundRect">
            <a:avLst/>
          </a:prstGeom>
          <a:solidFill>
            <a:srgbClr val="FFFFFF"/>
          </a:solidFill>
          <a:ln w="9525">
            <a:solidFill>
              <a:srgbClr val="D9D2C6"/>
            </a:solidFill>
          </a:ln>
        </p:spPr>
        <p:txBody>
          <a:bodyPr/>
          <a:lstStyle/>
          <a:p/>
        </p:txBody>
      </p:sp>
      <p:sp>
        <p:nvSpPr>
          <p:cNvPr id="24" name="route text 3"/>
          <p:cNvSpPr txBox="1"/>
          <p:nvPr/>
        </p:nvSpPr>
        <p:spPr>
          <a:xfrm>
            <a:off x="7607807" y="2871216"/>
            <a:ext cx="1481328" cy="658368"/>
          </a:xfrm>
          <a:prstGeom prst="rect">
            <a:avLst/>
          </a:prstGeom>
          <a:noFill/>
          <a:ln>
            <a:noFill/>
          </a:ln>
        </p:spPr>
        <p:txBody>
          <a:bodyPr wrap="square" anchor="ctr" lIns="0" rIns="0" tIns="0" bIns="0"/>
          <a:lstStyle/>
          <a:p>
            <a:pPr algn="ctr" marL="0" indent="0" spcBef="0" spcAft="20000">
              <a:buNone/>
            </a:pPr>
            <a:r>
              <a:rPr lang="zh-CN" sz="1150" b="1">
                <a:solidFill>
                  <a:srgbClr val="2B2B2B"/>
                </a:solidFill>
                <a:latin typeface="Aptos"/>
                <a:ea typeface="Microsoft YaHei"/>
              </a:rPr>
              <a:t>分析验证</a:t>
            </a:r>
          </a:p>
          <a:p>
            <a:pPr algn="ctr" marL="0" indent="0" spcBef="0" spcAft="0">
              <a:buNone/>
            </a:pPr>
            <a:r>
              <a:rPr lang="zh-CN" sz="850">
                <a:solidFill>
                  <a:srgbClr val="5F6368"/>
                </a:solidFill>
                <a:latin typeface="Aptos"/>
                <a:ea typeface="Microsoft YaHei"/>
              </a:rPr>
              <a:t>稳健性</a:t>
            </a:r>
          </a:p>
          <a:p>
            <a:pPr algn="ctr" marL="0" indent="0" spcBef="0" spcAft="0">
              <a:buNone/>
            </a:pPr>
            <a:r>
              <a:rPr lang="zh-CN" sz="850">
                <a:solidFill>
                  <a:srgbClr val="5F6368"/>
                </a:solidFill>
                <a:latin typeface="Aptos"/>
                <a:ea typeface="Microsoft YaHei"/>
              </a:rPr>
              <a:t>对比分析</a:t>
            </a:r>
          </a:p>
        </p:txBody>
      </p:sp>
      <p:cxnSp>
        <p:nvCxnSpPr>
          <p:cNvPr id="25" name="route arrow line 3"/>
          <p:cNvCxnSpPr/>
          <p:nvPr/>
        </p:nvCxnSpPr>
        <p:spPr>
          <a:xfrm>
            <a:off x="9217151" y="3236976"/>
            <a:ext cx="448056" cy="0"/>
          </a:xfrm>
          <a:prstGeom prst="line">
            <a:avLst/>
          </a:prstGeom>
          <a:ln w="19050">
            <a:solidFill>
              <a:srgbClr val="C8A45D"/>
            </a:solidFill>
          </a:ln>
        </p:spPr>
      </p:cxnSp>
      <p:sp>
        <p:nvSpPr>
          <p:cNvPr id="26" name="route arrow head 3"/>
          <p:cNvSpPr/>
          <p:nvPr/>
        </p:nvSpPr>
        <p:spPr>
          <a:xfrm>
            <a:off x="9592055" y="3154680"/>
            <a:ext cx="146304" cy="146304"/>
          </a:xfrm>
          <a:prstGeom prst="triangle">
            <a:avLst/>
          </a:prstGeom>
          <a:solidFill>
            <a:srgbClr val="C8A45D"/>
          </a:solidFill>
          <a:ln>
            <a:noFill/>
          </a:ln>
        </p:spPr>
        <p:txBody>
          <a:bodyPr/>
          <a:lstStyle/>
          <a:p/>
        </p:txBody>
      </p:sp>
      <p:sp>
        <p:nvSpPr>
          <p:cNvPr id="27" name="route step 4"/>
          <p:cNvSpPr/>
          <p:nvPr/>
        </p:nvSpPr>
        <p:spPr>
          <a:xfrm>
            <a:off x="9784080" y="2743200"/>
            <a:ext cx="1664208" cy="987552"/>
          </a:xfrm>
          <a:prstGeom prst="roundRect">
            <a:avLst/>
          </a:prstGeom>
          <a:solidFill>
            <a:srgbClr val="B01F24"/>
          </a:solidFill>
          <a:ln>
            <a:noFill/>
          </a:ln>
        </p:spPr>
        <p:txBody>
          <a:bodyPr/>
          <a:lstStyle/>
          <a:p/>
        </p:txBody>
      </p:sp>
      <p:sp>
        <p:nvSpPr>
          <p:cNvPr id="28" name="route text 4"/>
          <p:cNvSpPr txBox="1"/>
          <p:nvPr/>
        </p:nvSpPr>
        <p:spPr>
          <a:xfrm>
            <a:off x="9875519" y="2871216"/>
            <a:ext cx="1481328" cy="658368"/>
          </a:xfrm>
          <a:prstGeom prst="rect">
            <a:avLst/>
          </a:prstGeom>
          <a:noFill/>
          <a:ln>
            <a:noFill/>
          </a:ln>
        </p:spPr>
        <p:txBody>
          <a:bodyPr wrap="square" anchor="ctr" lIns="0" rIns="0" tIns="0" bIns="0"/>
          <a:lstStyle/>
          <a:p>
            <a:pPr algn="ctr" marL="0" indent="0" spcBef="0" spcAft="20000">
              <a:buNone/>
            </a:pPr>
            <a:r>
              <a:rPr lang="zh-CN" sz="1150" b="1">
                <a:solidFill>
                  <a:srgbClr val="FFFFFF"/>
                </a:solidFill>
                <a:latin typeface="Aptos"/>
                <a:ea typeface="Microsoft YaHei"/>
              </a:rPr>
              <a:t>结论产出</a:t>
            </a:r>
          </a:p>
          <a:p>
            <a:pPr algn="ctr" marL="0" indent="0" spcBef="0" spcAft="0">
              <a:buNone/>
            </a:pPr>
            <a:r>
              <a:rPr lang="zh-CN" sz="850">
                <a:solidFill>
                  <a:srgbClr val="FFFFFF"/>
                </a:solidFill>
                <a:latin typeface="Aptos"/>
                <a:ea typeface="Microsoft YaHei"/>
              </a:rPr>
              <a:t>理论贡献</a:t>
            </a:r>
          </a:p>
          <a:p>
            <a:pPr algn="ctr" marL="0" indent="0" spcBef="0" spcAft="0">
              <a:buNone/>
            </a:pPr>
            <a:r>
              <a:rPr lang="zh-CN" sz="850">
                <a:solidFill>
                  <a:srgbClr val="FFFFFF"/>
                </a:solidFill>
                <a:latin typeface="Aptos"/>
                <a:ea typeface="Microsoft YaHei"/>
              </a:rPr>
              <a:t>实践建议</a:t>
            </a:r>
          </a:p>
        </p:txBody>
      </p:sp>
      <p:sp>
        <p:nvSpPr>
          <p:cNvPr id="29" name="method note"/>
          <p:cNvSpPr txBox="1"/>
          <p:nvPr/>
        </p:nvSpPr>
        <p:spPr>
          <a:xfrm>
            <a:off x="987552" y="4800600"/>
            <a:ext cx="10012680" cy="457200"/>
          </a:xfrm>
          <a:prstGeom prst="rect">
            <a:avLst/>
          </a:prstGeom>
          <a:noFill/>
          <a:ln>
            <a:noFill/>
          </a:ln>
        </p:spPr>
        <p:txBody>
          <a:bodyPr wrap="square" anchor="t" lIns="0" rIns="0" tIns="0" bIns="0"/>
          <a:lstStyle/>
          <a:p>
            <a:pPr algn="ctr" marL="0" indent="0" spcBef="0" spcAft="0">
              <a:buNone/>
            </a:pPr>
            <a:r>
              <a:rPr lang="zh-CN" sz="1150">
                <a:solidFill>
                  <a:srgbClr val="5F6368"/>
                </a:solidFill>
                <a:latin typeface="Aptos"/>
                <a:ea typeface="Microsoft YaHei"/>
              </a:rPr>
              <a:t>可在下方补充：核心模型、实验设计、样本选择、变量定义、评价指标等。</a:t>
            </a:r>
          </a:p>
        </p:txBody>
      </p:sp>
      <p:sp>
        <p:nvSpPr>
          <p:cNvPr id="30"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31"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05 / FEASIBILITY</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可行性分析与风险控制</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让评委看到“能做完、做得成、风险可控”</a:t>
            </a:r>
          </a:p>
        </p:txBody>
      </p:sp>
      <p:sp>
        <p:nvSpPr>
          <p:cNvPr id="11" name="table bg"/>
          <p:cNvSpPr/>
          <p:nvPr/>
        </p:nvSpPr>
        <p:spPr>
          <a:xfrm>
            <a:off x="896112" y="1901952"/>
            <a:ext cx="9966960" cy="3429000"/>
          </a:xfrm>
          <a:prstGeom prst="roundRect">
            <a:avLst/>
          </a:prstGeom>
          <a:solidFill>
            <a:srgbClr val="FFFFFF"/>
          </a:solidFill>
          <a:ln w="6350">
            <a:solidFill>
              <a:srgbClr val="E6E1DA"/>
            </a:solidFill>
          </a:ln>
        </p:spPr>
        <p:txBody>
          <a:bodyPr/>
          <a:lstStyle/>
          <a:p/>
        </p:txBody>
      </p:sp>
      <p:sp>
        <p:nvSpPr>
          <p:cNvPr id="12" name="table tag 0"/>
          <p:cNvSpPr/>
          <p:nvPr/>
        </p:nvSpPr>
        <p:spPr>
          <a:xfrm>
            <a:off x="1078992" y="1993392"/>
            <a:ext cx="1481328" cy="420624"/>
          </a:xfrm>
          <a:prstGeom prst="roundRect">
            <a:avLst/>
          </a:prstGeom>
          <a:solidFill>
            <a:srgbClr val="B01F24"/>
          </a:solidFill>
          <a:ln>
            <a:noFill/>
          </a:ln>
        </p:spPr>
        <p:txBody>
          <a:bodyPr/>
          <a:lstStyle/>
          <a:p/>
        </p:txBody>
      </p:sp>
      <p:sp>
        <p:nvSpPr>
          <p:cNvPr id="13" name="table left 0"/>
          <p:cNvSpPr txBox="1"/>
          <p:nvPr/>
        </p:nvSpPr>
        <p:spPr>
          <a:xfrm>
            <a:off x="1170432" y="2084832"/>
            <a:ext cx="1298448" cy="164592"/>
          </a:xfrm>
          <a:prstGeom prst="rect">
            <a:avLst/>
          </a:prstGeom>
          <a:noFill/>
          <a:ln>
            <a:noFill/>
          </a:ln>
        </p:spPr>
        <p:txBody>
          <a:bodyPr wrap="square" anchor="t" lIns="0" rIns="0" tIns="0" bIns="0"/>
          <a:lstStyle/>
          <a:p>
            <a:pPr algn="ctr" marL="0" indent="0" spcBef="0" spcAft="0">
              <a:buNone/>
            </a:pPr>
            <a:r>
              <a:rPr lang="zh-CN" sz="900" b="1">
                <a:solidFill>
                  <a:srgbClr val="FFFFFF"/>
                </a:solidFill>
                <a:latin typeface="Aptos"/>
                <a:ea typeface="Microsoft YaHei"/>
              </a:rPr>
              <a:t>研究基础</a:t>
            </a:r>
          </a:p>
        </p:txBody>
      </p:sp>
      <p:sp>
        <p:nvSpPr>
          <p:cNvPr id="14" name="table right 0"/>
          <p:cNvSpPr txBox="1"/>
          <p:nvPr/>
        </p:nvSpPr>
        <p:spPr>
          <a:xfrm>
            <a:off x="2907792" y="2020824"/>
            <a:ext cx="7086600" cy="256032"/>
          </a:xfrm>
          <a:prstGeom prst="rect">
            <a:avLst/>
          </a:prstGeom>
          <a:noFill/>
          <a:ln>
            <a:noFill/>
          </a:ln>
        </p:spPr>
        <p:txBody>
          <a:bodyPr wrap="square" anchor="t" lIns="0" rIns="0" tIns="0" bIns="0"/>
          <a:lstStyle/>
          <a:p>
            <a:pPr algn="l" marL="0" indent="0" spcBef="0" spcAft="0">
              <a:buNone/>
            </a:pPr>
            <a:r>
              <a:rPr lang="zh-CN" sz="1120">
                <a:solidFill>
                  <a:srgbClr val="5F6368"/>
                </a:solidFill>
                <a:latin typeface="Aptos"/>
                <a:ea typeface="Microsoft YaHei"/>
              </a:rPr>
              <a:t>已有课程、论文、前期调研、数据积累</a:t>
            </a:r>
          </a:p>
        </p:txBody>
      </p:sp>
      <p:cxnSp>
        <p:nvCxnSpPr>
          <p:cNvPr id="15" name="row line 0"/>
          <p:cNvCxnSpPr/>
          <p:nvPr/>
        </p:nvCxnSpPr>
        <p:spPr>
          <a:xfrm>
            <a:off x="1078992" y="2615184"/>
            <a:ext cx="9509760" cy="0"/>
          </a:xfrm>
          <a:prstGeom prst="line">
            <a:avLst/>
          </a:prstGeom>
          <a:ln w="6350">
            <a:solidFill>
              <a:srgbClr val="E9E3DA"/>
            </a:solidFill>
          </a:ln>
        </p:spPr>
      </p:cxnSp>
      <p:sp>
        <p:nvSpPr>
          <p:cNvPr id="16" name="table tag 1"/>
          <p:cNvSpPr/>
          <p:nvPr/>
        </p:nvSpPr>
        <p:spPr>
          <a:xfrm>
            <a:off x="1078992" y="2779776"/>
            <a:ext cx="1481328" cy="420624"/>
          </a:xfrm>
          <a:prstGeom prst="roundRect">
            <a:avLst/>
          </a:prstGeom>
          <a:solidFill>
            <a:srgbClr val="EFE8DF"/>
          </a:solidFill>
          <a:ln>
            <a:noFill/>
          </a:ln>
        </p:spPr>
        <p:txBody>
          <a:bodyPr/>
          <a:lstStyle/>
          <a:p/>
        </p:txBody>
      </p:sp>
      <p:sp>
        <p:nvSpPr>
          <p:cNvPr id="17" name="table left 1"/>
          <p:cNvSpPr txBox="1"/>
          <p:nvPr/>
        </p:nvSpPr>
        <p:spPr>
          <a:xfrm>
            <a:off x="1170432" y="2871216"/>
            <a:ext cx="1298448" cy="16459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资料/数据</a:t>
            </a:r>
          </a:p>
        </p:txBody>
      </p:sp>
      <p:sp>
        <p:nvSpPr>
          <p:cNvPr id="18" name="table right 1"/>
          <p:cNvSpPr txBox="1"/>
          <p:nvPr/>
        </p:nvSpPr>
        <p:spPr>
          <a:xfrm>
            <a:off x="2907792" y="2807208"/>
            <a:ext cx="7086600" cy="256032"/>
          </a:xfrm>
          <a:prstGeom prst="rect">
            <a:avLst/>
          </a:prstGeom>
          <a:noFill/>
          <a:ln>
            <a:noFill/>
          </a:ln>
        </p:spPr>
        <p:txBody>
          <a:bodyPr wrap="square" anchor="t" lIns="0" rIns="0" tIns="0" bIns="0"/>
          <a:lstStyle/>
          <a:p>
            <a:pPr algn="l" marL="0" indent="0" spcBef="0" spcAft="0">
              <a:buNone/>
            </a:pPr>
            <a:r>
              <a:rPr lang="zh-CN" sz="1120">
                <a:solidFill>
                  <a:srgbClr val="5F6368"/>
                </a:solidFill>
                <a:latin typeface="Aptos"/>
                <a:ea typeface="Microsoft YaHei"/>
              </a:rPr>
              <a:t>数据来源、权限、样本规模、获取周期</a:t>
            </a:r>
          </a:p>
        </p:txBody>
      </p:sp>
      <p:cxnSp>
        <p:nvCxnSpPr>
          <p:cNvPr id="19" name="row line 1"/>
          <p:cNvCxnSpPr/>
          <p:nvPr/>
        </p:nvCxnSpPr>
        <p:spPr>
          <a:xfrm>
            <a:off x="1078992" y="3401568"/>
            <a:ext cx="9509760" cy="0"/>
          </a:xfrm>
          <a:prstGeom prst="line">
            <a:avLst/>
          </a:prstGeom>
          <a:ln w="6350">
            <a:solidFill>
              <a:srgbClr val="E9E3DA"/>
            </a:solidFill>
          </a:ln>
        </p:spPr>
      </p:cxnSp>
      <p:sp>
        <p:nvSpPr>
          <p:cNvPr id="20" name="table tag 2"/>
          <p:cNvSpPr/>
          <p:nvPr/>
        </p:nvSpPr>
        <p:spPr>
          <a:xfrm>
            <a:off x="1078992" y="3566160"/>
            <a:ext cx="1481328" cy="420624"/>
          </a:xfrm>
          <a:prstGeom prst="roundRect">
            <a:avLst/>
          </a:prstGeom>
          <a:solidFill>
            <a:srgbClr val="EFE8DF"/>
          </a:solidFill>
          <a:ln>
            <a:noFill/>
          </a:ln>
        </p:spPr>
        <p:txBody>
          <a:bodyPr/>
          <a:lstStyle/>
          <a:p/>
        </p:txBody>
      </p:sp>
      <p:sp>
        <p:nvSpPr>
          <p:cNvPr id="21" name="table left 2"/>
          <p:cNvSpPr txBox="1"/>
          <p:nvPr/>
        </p:nvSpPr>
        <p:spPr>
          <a:xfrm>
            <a:off x="1170432" y="3657600"/>
            <a:ext cx="1298448" cy="16459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方法条件</a:t>
            </a:r>
          </a:p>
        </p:txBody>
      </p:sp>
      <p:sp>
        <p:nvSpPr>
          <p:cNvPr id="22" name="table right 2"/>
          <p:cNvSpPr txBox="1"/>
          <p:nvPr/>
        </p:nvSpPr>
        <p:spPr>
          <a:xfrm>
            <a:off x="2907792" y="3593592"/>
            <a:ext cx="7086600" cy="256032"/>
          </a:xfrm>
          <a:prstGeom prst="rect">
            <a:avLst/>
          </a:prstGeom>
          <a:noFill/>
          <a:ln>
            <a:noFill/>
          </a:ln>
        </p:spPr>
        <p:txBody>
          <a:bodyPr wrap="square" anchor="t" lIns="0" rIns="0" tIns="0" bIns="0"/>
          <a:lstStyle/>
          <a:p>
            <a:pPr algn="l" marL="0" indent="0" spcBef="0" spcAft="0">
              <a:buNone/>
            </a:pPr>
            <a:r>
              <a:rPr lang="zh-CN" sz="1120">
                <a:solidFill>
                  <a:srgbClr val="5F6368"/>
                </a:solidFill>
                <a:latin typeface="Aptos"/>
                <a:ea typeface="Microsoft YaHei"/>
              </a:rPr>
              <a:t>软件工具、实验平台、计算资源、导师支持</a:t>
            </a:r>
          </a:p>
        </p:txBody>
      </p:sp>
      <p:cxnSp>
        <p:nvCxnSpPr>
          <p:cNvPr id="23" name="row line 2"/>
          <p:cNvCxnSpPr/>
          <p:nvPr/>
        </p:nvCxnSpPr>
        <p:spPr>
          <a:xfrm>
            <a:off x="1078992" y="4187952"/>
            <a:ext cx="9509760" cy="0"/>
          </a:xfrm>
          <a:prstGeom prst="line">
            <a:avLst/>
          </a:prstGeom>
          <a:ln w="6350">
            <a:solidFill>
              <a:srgbClr val="E9E3DA"/>
            </a:solidFill>
          </a:ln>
        </p:spPr>
      </p:cxnSp>
      <p:sp>
        <p:nvSpPr>
          <p:cNvPr id="24" name="table tag 3"/>
          <p:cNvSpPr/>
          <p:nvPr/>
        </p:nvSpPr>
        <p:spPr>
          <a:xfrm>
            <a:off x="1078992" y="4352544"/>
            <a:ext cx="1481328" cy="420624"/>
          </a:xfrm>
          <a:prstGeom prst="roundRect">
            <a:avLst/>
          </a:prstGeom>
          <a:solidFill>
            <a:srgbClr val="EFE8DF"/>
          </a:solidFill>
          <a:ln>
            <a:noFill/>
          </a:ln>
        </p:spPr>
        <p:txBody>
          <a:bodyPr/>
          <a:lstStyle/>
          <a:p/>
        </p:txBody>
      </p:sp>
      <p:sp>
        <p:nvSpPr>
          <p:cNvPr id="25" name="table left 3"/>
          <p:cNvSpPr txBox="1"/>
          <p:nvPr/>
        </p:nvSpPr>
        <p:spPr>
          <a:xfrm>
            <a:off x="1170432" y="4443983"/>
            <a:ext cx="1298448" cy="16459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风险控制</a:t>
            </a:r>
          </a:p>
        </p:txBody>
      </p:sp>
      <p:sp>
        <p:nvSpPr>
          <p:cNvPr id="26" name="table right 3"/>
          <p:cNvSpPr txBox="1"/>
          <p:nvPr/>
        </p:nvSpPr>
        <p:spPr>
          <a:xfrm>
            <a:off x="2907792" y="4379976"/>
            <a:ext cx="7086600" cy="256032"/>
          </a:xfrm>
          <a:prstGeom prst="rect">
            <a:avLst/>
          </a:prstGeom>
          <a:noFill/>
          <a:ln>
            <a:noFill/>
          </a:ln>
        </p:spPr>
        <p:txBody>
          <a:bodyPr wrap="square" anchor="t" lIns="0" rIns="0" tIns="0" bIns="0"/>
          <a:lstStyle/>
          <a:p>
            <a:pPr algn="l" marL="0" indent="0" spcBef="0" spcAft="0">
              <a:buNone/>
            </a:pPr>
            <a:r>
              <a:rPr lang="zh-CN" sz="1120">
                <a:solidFill>
                  <a:srgbClr val="5F6368"/>
                </a:solidFill>
                <a:latin typeface="Aptos"/>
                <a:ea typeface="Microsoft YaHei"/>
              </a:rPr>
              <a:t>数据不足、模型失效、进度延误的替代方案</a:t>
            </a:r>
          </a:p>
        </p:txBody>
      </p:sp>
      <p:sp>
        <p:nvSpPr>
          <p:cNvPr id="27"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28"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06 / SCHEDULE</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研究计划与进度安排</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可按学期、月份或学院节点调整</a:t>
            </a:r>
          </a:p>
        </p:txBody>
      </p:sp>
      <p:sp>
        <p:nvSpPr>
          <p:cNvPr id="11" name="month 0"/>
          <p:cNvSpPr txBox="1"/>
          <p:nvPr/>
        </p:nvSpPr>
        <p:spPr>
          <a:xfrm>
            <a:off x="2423160" y="2011680"/>
            <a:ext cx="1508760" cy="25603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第1阶段</a:t>
            </a:r>
          </a:p>
        </p:txBody>
      </p:sp>
      <p:cxnSp>
        <p:nvCxnSpPr>
          <p:cNvPr id="12" name="month grid 0"/>
          <p:cNvCxnSpPr/>
          <p:nvPr/>
        </p:nvCxnSpPr>
        <p:spPr>
          <a:xfrm>
            <a:off x="2423160" y="2414016"/>
            <a:ext cx="0" cy="2980944"/>
          </a:xfrm>
          <a:prstGeom prst="line">
            <a:avLst/>
          </a:prstGeom>
          <a:ln w="6350">
            <a:solidFill>
              <a:srgbClr val="E1DBD3"/>
            </a:solidFill>
          </a:ln>
        </p:spPr>
      </p:cxnSp>
      <p:sp>
        <p:nvSpPr>
          <p:cNvPr id="13" name="month 1"/>
          <p:cNvSpPr txBox="1"/>
          <p:nvPr/>
        </p:nvSpPr>
        <p:spPr>
          <a:xfrm>
            <a:off x="3931920" y="2011680"/>
            <a:ext cx="1508760" cy="25603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第2阶段</a:t>
            </a:r>
          </a:p>
        </p:txBody>
      </p:sp>
      <p:cxnSp>
        <p:nvCxnSpPr>
          <p:cNvPr id="14" name="month grid 1"/>
          <p:cNvCxnSpPr/>
          <p:nvPr/>
        </p:nvCxnSpPr>
        <p:spPr>
          <a:xfrm>
            <a:off x="3931920" y="2414016"/>
            <a:ext cx="0" cy="2980944"/>
          </a:xfrm>
          <a:prstGeom prst="line">
            <a:avLst/>
          </a:prstGeom>
          <a:ln w="6350">
            <a:solidFill>
              <a:srgbClr val="E1DBD3"/>
            </a:solidFill>
          </a:ln>
        </p:spPr>
      </p:cxnSp>
      <p:sp>
        <p:nvSpPr>
          <p:cNvPr id="15" name="month 2"/>
          <p:cNvSpPr txBox="1"/>
          <p:nvPr/>
        </p:nvSpPr>
        <p:spPr>
          <a:xfrm>
            <a:off x="5440679" y="2011680"/>
            <a:ext cx="1508760" cy="25603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第3阶段</a:t>
            </a:r>
          </a:p>
        </p:txBody>
      </p:sp>
      <p:cxnSp>
        <p:nvCxnSpPr>
          <p:cNvPr id="16" name="month grid 2"/>
          <p:cNvCxnSpPr/>
          <p:nvPr/>
        </p:nvCxnSpPr>
        <p:spPr>
          <a:xfrm>
            <a:off x="5440679" y="2414016"/>
            <a:ext cx="0" cy="2980944"/>
          </a:xfrm>
          <a:prstGeom prst="line">
            <a:avLst/>
          </a:prstGeom>
          <a:ln w="6350">
            <a:solidFill>
              <a:srgbClr val="E1DBD3"/>
            </a:solidFill>
          </a:ln>
        </p:spPr>
      </p:cxnSp>
      <p:sp>
        <p:nvSpPr>
          <p:cNvPr id="17" name="month 3"/>
          <p:cNvSpPr txBox="1"/>
          <p:nvPr/>
        </p:nvSpPr>
        <p:spPr>
          <a:xfrm>
            <a:off x="6949440" y="2011680"/>
            <a:ext cx="1508760" cy="25603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第4阶段</a:t>
            </a:r>
          </a:p>
        </p:txBody>
      </p:sp>
      <p:cxnSp>
        <p:nvCxnSpPr>
          <p:cNvPr id="18" name="month grid 3"/>
          <p:cNvCxnSpPr/>
          <p:nvPr/>
        </p:nvCxnSpPr>
        <p:spPr>
          <a:xfrm>
            <a:off x="6949440" y="2414016"/>
            <a:ext cx="0" cy="2980944"/>
          </a:xfrm>
          <a:prstGeom prst="line">
            <a:avLst/>
          </a:prstGeom>
          <a:ln w="6350">
            <a:solidFill>
              <a:srgbClr val="E1DBD3"/>
            </a:solidFill>
          </a:ln>
        </p:spPr>
      </p:cxnSp>
      <p:sp>
        <p:nvSpPr>
          <p:cNvPr id="19" name="month 4"/>
          <p:cNvSpPr txBox="1"/>
          <p:nvPr/>
        </p:nvSpPr>
        <p:spPr>
          <a:xfrm>
            <a:off x="8458200" y="2011680"/>
            <a:ext cx="1508760" cy="256032"/>
          </a:xfrm>
          <a:prstGeom prst="rect">
            <a:avLst/>
          </a:prstGeom>
          <a:noFill/>
          <a:ln>
            <a:noFill/>
          </a:ln>
        </p:spPr>
        <p:txBody>
          <a:bodyPr wrap="square" anchor="t" lIns="0" rIns="0" tIns="0" bIns="0"/>
          <a:lstStyle/>
          <a:p>
            <a:pPr algn="ctr" marL="0" indent="0" spcBef="0" spcAft="0">
              <a:buNone/>
            </a:pPr>
            <a:r>
              <a:rPr lang="zh-CN" sz="900" b="1">
                <a:solidFill>
                  <a:srgbClr val="2B2B2B"/>
                </a:solidFill>
                <a:latin typeface="Aptos"/>
                <a:ea typeface="Microsoft YaHei"/>
              </a:rPr>
              <a:t>第5阶段</a:t>
            </a:r>
          </a:p>
        </p:txBody>
      </p:sp>
      <p:cxnSp>
        <p:nvCxnSpPr>
          <p:cNvPr id="20" name="month grid 4"/>
          <p:cNvCxnSpPr/>
          <p:nvPr/>
        </p:nvCxnSpPr>
        <p:spPr>
          <a:xfrm>
            <a:off x="8458200" y="2414016"/>
            <a:ext cx="0" cy="2980944"/>
          </a:xfrm>
          <a:prstGeom prst="line">
            <a:avLst/>
          </a:prstGeom>
          <a:ln w="6350">
            <a:solidFill>
              <a:srgbClr val="E1DBD3"/>
            </a:solidFill>
          </a:ln>
        </p:spPr>
      </p:cxnSp>
      <p:cxnSp>
        <p:nvCxnSpPr>
          <p:cNvPr id="21" name="month grid last"/>
          <p:cNvCxnSpPr/>
          <p:nvPr/>
        </p:nvCxnSpPr>
        <p:spPr>
          <a:xfrm>
            <a:off x="9966960" y="2414016"/>
            <a:ext cx="0" cy="2980944"/>
          </a:xfrm>
          <a:prstGeom prst="line">
            <a:avLst/>
          </a:prstGeom>
          <a:ln w="6350">
            <a:solidFill>
              <a:srgbClr val="E1DBD3"/>
            </a:solidFill>
          </a:ln>
        </p:spPr>
      </p:cxnSp>
      <p:sp>
        <p:nvSpPr>
          <p:cNvPr id="22" name="task 0"/>
          <p:cNvSpPr txBox="1"/>
          <p:nvPr/>
        </p:nvSpPr>
        <p:spPr>
          <a:xfrm>
            <a:off x="868680" y="2660904"/>
            <a:ext cx="1298448" cy="201168"/>
          </a:xfrm>
          <a:prstGeom prst="rect">
            <a:avLst/>
          </a:prstGeom>
          <a:noFill/>
          <a:ln>
            <a:noFill/>
          </a:ln>
        </p:spPr>
        <p:txBody>
          <a:bodyPr wrap="square" anchor="t" lIns="0" rIns="0" tIns="0" bIns="0"/>
          <a:lstStyle/>
          <a:p>
            <a:pPr algn="r" marL="0" indent="0" spcBef="0" spcAft="0">
              <a:buNone/>
            </a:pPr>
            <a:r>
              <a:rPr lang="zh-CN" sz="900">
                <a:solidFill>
                  <a:srgbClr val="5F6368"/>
                </a:solidFill>
                <a:latin typeface="Aptos"/>
                <a:ea typeface="Microsoft YaHei"/>
              </a:rPr>
              <a:t>文献整理</a:t>
            </a:r>
          </a:p>
        </p:txBody>
      </p:sp>
      <p:sp>
        <p:nvSpPr>
          <p:cNvPr id="23" name="bar 0"/>
          <p:cNvSpPr/>
          <p:nvPr/>
        </p:nvSpPr>
        <p:spPr>
          <a:xfrm>
            <a:off x="2514600" y="2615184"/>
            <a:ext cx="1325880" cy="256032"/>
          </a:xfrm>
          <a:prstGeom prst="roundRect">
            <a:avLst/>
          </a:prstGeom>
          <a:solidFill>
            <a:srgbClr val="B01F24"/>
          </a:solidFill>
          <a:ln>
            <a:noFill/>
          </a:ln>
        </p:spPr>
        <p:txBody>
          <a:bodyPr/>
          <a:lstStyle/>
          <a:p/>
        </p:txBody>
      </p:sp>
      <p:cxnSp>
        <p:nvCxnSpPr>
          <p:cNvPr id="24" name="task grid 0"/>
          <p:cNvCxnSpPr/>
          <p:nvPr/>
        </p:nvCxnSpPr>
        <p:spPr>
          <a:xfrm>
            <a:off x="2423160" y="3017520"/>
            <a:ext cx="7543800" cy="0"/>
          </a:xfrm>
          <a:prstGeom prst="line">
            <a:avLst/>
          </a:prstGeom>
          <a:ln w="6350">
            <a:solidFill>
              <a:srgbClr val="EDE7DF"/>
            </a:solidFill>
          </a:ln>
        </p:spPr>
      </p:cxnSp>
      <p:sp>
        <p:nvSpPr>
          <p:cNvPr id="25" name="task 1"/>
          <p:cNvSpPr txBox="1"/>
          <p:nvPr/>
        </p:nvSpPr>
        <p:spPr>
          <a:xfrm>
            <a:off x="868680" y="3227832"/>
            <a:ext cx="1298448" cy="201168"/>
          </a:xfrm>
          <a:prstGeom prst="rect">
            <a:avLst/>
          </a:prstGeom>
          <a:noFill/>
          <a:ln>
            <a:noFill/>
          </a:ln>
        </p:spPr>
        <p:txBody>
          <a:bodyPr wrap="square" anchor="t" lIns="0" rIns="0" tIns="0" bIns="0"/>
          <a:lstStyle/>
          <a:p>
            <a:pPr algn="r" marL="0" indent="0" spcBef="0" spcAft="0">
              <a:buNone/>
            </a:pPr>
            <a:r>
              <a:rPr lang="zh-CN" sz="900">
                <a:solidFill>
                  <a:srgbClr val="5F6368"/>
                </a:solidFill>
                <a:latin typeface="Aptos"/>
                <a:ea typeface="Microsoft YaHei"/>
              </a:rPr>
              <a:t>研究设计</a:t>
            </a:r>
          </a:p>
        </p:txBody>
      </p:sp>
      <p:sp>
        <p:nvSpPr>
          <p:cNvPr id="26" name="bar 1"/>
          <p:cNvSpPr/>
          <p:nvPr/>
        </p:nvSpPr>
        <p:spPr>
          <a:xfrm>
            <a:off x="4023359" y="3182112"/>
            <a:ext cx="1325880" cy="256032"/>
          </a:xfrm>
          <a:prstGeom prst="roundRect">
            <a:avLst/>
          </a:prstGeom>
          <a:solidFill>
            <a:srgbClr val="C8A45D"/>
          </a:solidFill>
          <a:ln>
            <a:noFill/>
          </a:ln>
        </p:spPr>
        <p:txBody>
          <a:bodyPr/>
          <a:lstStyle/>
          <a:p/>
        </p:txBody>
      </p:sp>
      <p:cxnSp>
        <p:nvCxnSpPr>
          <p:cNvPr id="27" name="task grid 1"/>
          <p:cNvCxnSpPr/>
          <p:nvPr/>
        </p:nvCxnSpPr>
        <p:spPr>
          <a:xfrm>
            <a:off x="2423160" y="3584448"/>
            <a:ext cx="7543800" cy="0"/>
          </a:xfrm>
          <a:prstGeom prst="line">
            <a:avLst/>
          </a:prstGeom>
          <a:ln w="6350">
            <a:solidFill>
              <a:srgbClr val="EDE7DF"/>
            </a:solidFill>
          </a:ln>
        </p:spPr>
      </p:cxnSp>
      <p:sp>
        <p:nvSpPr>
          <p:cNvPr id="28" name="task 2"/>
          <p:cNvSpPr txBox="1"/>
          <p:nvPr/>
        </p:nvSpPr>
        <p:spPr>
          <a:xfrm>
            <a:off x="868680" y="3794760"/>
            <a:ext cx="1298448" cy="201168"/>
          </a:xfrm>
          <a:prstGeom prst="rect">
            <a:avLst/>
          </a:prstGeom>
          <a:noFill/>
          <a:ln>
            <a:noFill/>
          </a:ln>
        </p:spPr>
        <p:txBody>
          <a:bodyPr wrap="square" anchor="t" lIns="0" rIns="0" tIns="0" bIns="0"/>
          <a:lstStyle/>
          <a:p>
            <a:pPr algn="r" marL="0" indent="0" spcBef="0" spcAft="0">
              <a:buNone/>
            </a:pPr>
            <a:r>
              <a:rPr lang="zh-CN" sz="900">
                <a:solidFill>
                  <a:srgbClr val="5F6368"/>
                </a:solidFill>
                <a:latin typeface="Aptos"/>
                <a:ea typeface="Microsoft YaHei"/>
              </a:rPr>
              <a:t>数据/材料收集</a:t>
            </a:r>
          </a:p>
        </p:txBody>
      </p:sp>
      <p:sp>
        <p:nvSpPr>
          <p:cNvPr id="29" name="bar 2"/>
          <p:cNvSpPr/>
          <p:nvPr/>
        </p:nvSpPr>
        <p:spPr>
          <a:xfrm>
            <a:off x="5532119" y="3749040"/>
            <a:ext cx="1325880" cy="256032"/>
          </a:xfrm>
          <a:prstGeom prst="roundRect">
            <a:avLst/>
          </a:prstGeom>
          <a:solidFill>
            <a:srgbClr val="C8A45D"/>
          </a:solidFill>
          <a:ln>
            <a:noFill/>
          </a:ln>
        </p:spPr>
        <p:txBody>
          <a:bodyPr/>
          <a:lstStyle/>
          <a:p/>
        </p:txBody>
      </p:sp>
      <p:cxnSp>
        <p:nvCxnSpPr>
          <p:cNvPr id="30" name="task grid 2"/>
          <p:cNvCxnSpPr/>
          <p:nvPr/>
        </p:nvCxnSpPr>
        <p:spPr>
          <a:xfrm>
            <a:off x="2423160" y="4151376"/>
            <a:ext cx="7543800" cy="0"/>
          </a:xfrm>
          <a:prstGeom prst="line">
            <a:avLst/>
          </a:prstGeom>
          <a:ln w="6350">
            <a:solidFill>
              <a:srgbClr val="EDE7DF"/>
            </a:solidFill>
          </a:ln>
        </p:spPr>
      </p:cxnSp>
      <p:sp>
        <p:nvSpPr>
          <p:cNvPr id="31" name="task 3"/>
          <p:cNvSpPr txBox="1"/>
          <p:nvPr/>
        </p:nvSpPr>
        <p:spPr>
          <a:xfrm>
            <a:off x="868680" y="4361688"/>
            <a:ext cx="1298448" cy="201168"/>
          </a:xfrm>
          <a:prstGeom prst="rect">
            <a:avLst/>
          </a:prstGeom>
          <a:noFill/>
          <a:ln>
            <a:noFill/>
          </a:ln>
        </p:spPr>
        <p:txBody>
          <a:bodyPr wrap="square" anchor="t" lIns="0" rIns="0" tIns="0" bIns="0"/>
          <a:lstStyle/>
          <a:p>
            <a:pPr algn="r" marL="0" indent="0" spcBef="0" spcAft="0">
              <a:buNone/>
            </a:pPr>
            <a:r>
              <a:rPr lang="zh-CN" sz="900">
                <a:solidFill>
                  <a:srgbClr val="5F6368"/>
                </a:solidFill>
                <a:latin typeface="Aptos"/>
                <a:ea typeface="Microsoft YaHei"/>
              </a:rPr>
              <a:t>分析与验证</a:t>
            </a:r>
          </a:p>
        </p:txBody>
      </p:sp>
      <p:sp>
        <p:nvSpPr>
          <p:cNvPr id="32" name="bar 3"/>
          <p:cNvSpPr/>
          <p:nvPr/>
        </p:nvSpPr>
        <p:spPr>
          <a:xfrm>
            <a:off x="7040879" y="4315968"/>
            <a:ext cx="1325880" cy="256032"/>
          </a:xfrm>
          <a:prstGeom prst="roundRect">
            <a:avLst/>
          </a:prstGeom>
          <a:solidFill>
            <a:srgbClr val="C8A45D"/>
          </a:solidFill>
          <a:ln>
            <a:noFill/>
          </a:ln>
        </p:spPr>
        <p:txBody>
          <a:bodyPr/>
          <a:lstStyle/>
          <a:p/>
        </p:txBody>
      </p:sp>
      <p:cxnSp>
        <p:nvCxnSpPr>
          <p:cNvPr id="33" name="task grid 3"/>
          <p:cNvCxnSpPr/>
          <p:nvPr/>
        </p:nvCxnSpPr>
        <p:spPr>
          <a:xfrm>
            <a:off x="2423160" y="4718304"/>
            <a:ext cx="7543800" cy="0"/>
          </a:xfrm>
          <a:prstGeom prst="line">
            <a:avLst/>
          </a:prstGeom>
          <a:ln w="6350">
            <a:solidFill>
              <a:srgbClr val="EDE7DF"/>
            </a:solidFill>
          </a:ln>
        </p:spPr>
      </p:cxnSp>
      <p:sp>
        <p:nvSpPr>
          <p:cNvPr id="34" name="task 4"/>
          <p:cNvSpPr txBox="1"/>
          <p:nvPr/>
        </p:nvSpPr>
        <p:spPr>
          <a:xfrm>
            <a:off x="868680" y="4928616"/>
            <a:ext cx="1298448" cy="201168"/>
          </a:xfrm>
          <a:prstGeom prst="rect">
            <a:avLst/>
          </a:prstGeom>
          <a:noFill/>
          <a:ln>
            <a:noFill/>
          </a:ln>
        </p:spPr>
        <p:txBody>
          <a:bodyPr wrap="square" anchor="t" lIns="0" rIns="0" tIns="0" bIns="0"/>
          <a:lstStyle/>
          <a:p>
            <a:pPr algn="r" marL="0" indent="0" spcBef="0" spcAft="0">
              <a:buNone/>
            </a:pPr>
            <a:r>
              <a:rPr lang="zh-CN" sz="900">
                <a:solidFill>
                  <a:srgbClr val="5F6368"/>
                </a:solidFill>
                <a:latin typeface="Aptos"/>
                <a:ea typeface="Microsoft YaHei"/>
              </a:rPr>
              <a:t>论文撰写与修改</a:t>
            </a:r>
          </a:p>
        </p:txBody>
      </p:sp>
      <p:sp>
        <p:nvSpPr>
          <p:cNvPr id="35" name="bar 4"/>
          <p:cNvSpPr/>
          <p:nvPr/>
        </p:nvSpPr>
        <p:spPr>
          <a:xfrm>
            <a:off x="8549640" y="4882896"/>
            <a:ext cx="1325880" cy="256032"/>
          </a:xfrm>
          <a:prstGeom prst="roundRect">
            <a:avLst/>
          </a:prstGeom>
          <a:solidFill>
            <a:srgbClr val="B01F24"/>
          </a:solidFill>
          <a:ln>
            <a:noFill/>
          </a:ln>
        </p:spPr>
        <p:txBody>
          <a:bodyPr/>
          <a:lstStyle/>
          <a:p/>
        </p:txBody>
      </p:sp>
      <p:cxnSp>
        <p:nvCxnSpPr>
          <p:cNvPr id="36" name="task grid 4"/>
          <p:cNvCxnSpPr/>
          <p:nvPr/>
        </p:nvCxnSpPr>
        <p:spPr>
          <a:xfrm>
            <a:off x="2423160" y="5285232"/>
            <a:ext cx="7543800" cy="0"/>
          </a:xfrm>
          <a:prstGeom prst="line">
            <a:avLst/>
          </a:prstGeom>
          <a:ln w="6350">
            <a:solidFill>
              <a:srgbClr val="EDE7DF"/>
            </a:solidFill>
          </a:ln>
        </p:spPr>
      </p:cxnSp>
      <p:sp>
        <p:nvSpPr>
          <p:cNvPr id="37"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38"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07 / OUTCOMES</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预期成果与可能贡献</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把成果类型和贡献边界说清楚</a:t>
            </a:r>
          </a:p>
        </p:txBody>
      </p:sp>
      <p:sp>
        <p:nvSpPr>
          <p:cNvPr id="11" name="论文成果 card"/>
          <p:cNvSpPr/>
          <p:nvPr/>
        </p:nvSpPr>
        <p:spPr>
          <a:xfrm>
            <a:off x="960120" y="1920240"/>
            <a:ext cx="2971800" cy="3383280"/>
          </a:xfrm>
          <a:prstGeom prst="roundRect">
            <a:avLst/>
          </a:prstGeom>
          <a:solidFill>
            <a:srgbClr val="FFFFFF"/>
          </a:solidFill>
          <a:ln w="6350">
            <a:solidFill>
              <a:srgbClr val="E6E1DA"/>
            </a:solidFill>
          </a:ln>
        </p:spPr>
        <p:txBody>
          <a:bodyPr/>
          <a:lstStyle/>
          <a:p/>
        </p:txBody>
      </p:sp>
      <p:sp>
        <p:nvSpPr>
          <p:cNvPr id="12" name="论文成果 accent"/>
          <p:cNvSpPr/>
          <p:nvPr/>
        </p:nvSpPr>
        <p:spPr>
          <a:xfrm>
            <a:off x="960120" y="1920240"/>
            <a:ext cx="73152" cy="3383280"/>
          </a:xfrm>
          <a:prstGeom prst="rect">
            <a:avLst/>
          </a:prstGeom>
          <a:solidFill>
            <a:srgbClr val="B01F24"/>
          </a:solidFill>
          <a:ln>
            <a:noFill/>
          </a:ln>
        </p:spPr>
        <p:txBody>
          <a:bodyPr/>
          <a:lstStyle/>
          <a:p/>
        </p:txBody>
      </p:sp>
      <p:sp>
        <p:nvSpPr>
          <p:cNvPr id="13" name="论文成果 text"/>
          <p:cNvSpPr txBox="1"/>
          <p:nvPr/>
        </p:nvSpPr>
        <p:spPr>
          <a:xfrm>
            <a:off x="1179576" y="2084832"/>
            <a:ext cx="2587752" cy="3108960"/>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论文成果</a:t>
            </a:r>
          </a:p>
          <a:p>
            <a:pPr algn="l" marL="457200" indent="-228600" spcBef="0" spcAft="30000">
              <a:buChar char="•"/>
            </a:pPr>
            <a:r>
              <a:rPr lang="zh-CN" sz="1050">
                <a:solidFill>
                  <a:srgbClr val="5F6368"/>
                </a:solidFill>
                <a:latin typeface="Aptos"/>
                <a:ea typeface="Microsoft YaHei"/>
              </a:rPr>
              <a:t>完成开题报告与学位论文</a:t>
            </a:r>
          </a:p>
          <a:p>
            <a:pPr algn="l" marL="457200" indent="-228600" spcBef="0" spcAft="30000">
              <a:buChar char="•"/>
            </a:pPr>
            <a:r>
              <a:rPr lang="zh-CN" sz="1050">
                <a:solidFill>
                  <a:srgbClr val="5F6368"/>
                </a:solidFill>
                <a:latin typeface="Aptos"/>
                <a:ea typeface="Microsoft YaHei"/>
              </a:rPr>
              <a:t>形成清晰的问题、方法与结论链条</a:t>
            </a:r>
          </a:p>
          <a:p>
            <a:pPr algn="l" marL="457200" indent="-228600" spcBef="0" spcAft="30000">
              <a:buChar char="•"/>
            </a:pPr>
            <a:r>
              <a:rPr lang="zh-CN" sz="1050">
                <a:solidFill>
                  <a:srgbClr val="5F6368"/>
                </a:solidFill>
                <a:latin typeface="Aptos"/>
                <a:ea typeface="Microsoft YaHei"/>
              </a:rPr>
              <a:t>按学院规范完成查重与格式要求</a:t>
            </a:r>
          </a:p>
        </p:txBody>
      </p:sp>
      <p:sp>
        <p:nvSpPr>
          <p:cNvPr id="14" name="学术贡献 card"/>
          <p:cNvSpPr/>
          <p:nvPr/>
        </p:nvSpPr>
        <p:spPr>
          <a:xfrm>
            <a:off x="4572000" y="1920240"/>
            <a:ext cx="2971800" cy="3383280"/>
          </a:xfrm>
          <a:prstGeom prst="roundRect">
            <a:avLst/>
          </a:prstGeom>
          <a:solidFill>
            <a:srgbClr val="FFFFFF"/>
          </a:solidFill>
          <a:ln w="6350">
            <a:solidFill>
              <a:srgbClr val="E6E1DA"/>
            </a:solidFill>
          </a:ln>
        </p:spPr>
        <p:txBody>
          <a:bodyPr/>
          <a:lstStyle/>
          <a:p/>
        </p:txBody>
      </p:sp>
      <p:sp>
        <p:nvSpPr>
          <p:cNvPr id="15" name="学术贡献 accent"/>
          <p:cNvSpPr/>
          <p:nvPr/>
        </p:nvSpPr>
        <p:spPr>
          <a:xfrm>
            <a:off x="4572000" y="1920240"/>
            <a:ext cx="73152" cy="3383280"/>
          </a:xfrm>
          <a:prstGeom prst="rect">
            <a:avLst/>
          </a:prstGeom>
          <a:solidFill>
            <a:srgbClr val="C8A45D"/>
          </a:solidFill>
          <a:ln>
            <a:noFill/>
          </a:ln>
        </p:spPr>
        <p:txBody>
          <a:bodyPr/>
          <a:lstStyle/>
          <a:p/>
        </p:txBody>
      </p:sp>
      <p:sp>
        <p:nvSpPr>
          <p:cNvPr id="16" name="学术贡献 text"/>
          <p:cNvSpPr txBox="1"/>
          <p:nvPr/>
        </p:nvSpPr>
        <p:spPr>
          <a:xfrm>
            <a:off x="4791456" y="2084832"/>
            <a:ext cx="2587752" cy="3108960"/>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学术贡献</a:t>
            </a:r>
          </a:p>
          <a:p>
            <a:pPr algn="l" marL="457200" indent="-228600" spcBef="0" spcAft="30000">
              <a:buChar char="•"/>
            </a:pPr>
            <a:r>
              <a:rPr lang="zh-CN" sz="1050">
                <a:solidFill>
                  <a:srgbClr val="5F6368"/>
                </a:solidFill>
                <a:latin typeface="Aptos"/>
                <a:ea typeface="Microsoft YaHei"/>
              </a:rPr>
              <a:t>补充已有理论解释</a:t>
            </a:r>
          </a:p>
          <a:p>
            <a:pPr algn="l" marL="457200" indent="-228600" spcBef="0" spcAft="30000">
              <a:buChar char="•"/>
            </a:pPr>
            <a:r>
              <a:rPr lang="zh-CN" sz="1050">
                <a:solidFill>
                  <a:srgbClr val="5F6368"/>
                </a:solidFill>
                <a:latin typeface="Aptos"/>
                <a:ea typeface="Microsoft YaHei"/>
              </a:rPr>
              <a:t>提供新的数据、模型或经验证据</a:t>
            </a:r>
          </a:p>
          <a:p>
            <a:pPr algn="l" marL="457200" indent="-228600" spcBef="0" spcAft="30000">
              <a:buChar char="•"/>
            </a:pPr>
            <a:r>
              <a:rPr lang="zh-CN" sz="1050">
                <a:solidFill>
                  <a:srgbClr val="5F6368"/>
                </a:solidFill>
                <a:latin typeface="Aptos"/>
                <a:ea typeface="Microsoft YaHei"/>
              </a:rPr>
              <a:t>为后续研究留下可复用框架</a:t>
            </a:r>
          </a:p>
        </p:txBody>
      </p:sp>
      <p:sp>
        <p:nvSpPr>
          <p:cNvPr id="17" name="实践价值 card"/>
          <p:cNvSpPr/>
          <p:nvPr/>
        </p:nvSpPr>
        <p:spPr>
          <a:xfrm>
            <a:off x="8183879" y="1920240"/>
            <a:ext cx="2971800" cy="3383280"/>
          </a:xfrm>
          <a:prstGeom prst="roundRect">
            <a:avLst/>
          </a:prstGeom>
          <a:solidFill>
            <a:srgbClr val="FFFFFF"/>
          </a:solidFill>
          <a:ln w="6350">
            <a:solidFill>
              <a:srgbClr val="E6E1DA"/>
            </a:solidFill>
          </a:ln>
        </p:spPr>
        <p:txBody>
          <a:bodyPr/>
          <a:lstStyle/>
          <a:p/>
        </p:txBody>
      </p:sp>
      <p:sp>
        <p:nvSpPr>
          <p:cNvPr id="18" name="实践价值 accent"/>
          <p:cNvSpPr/>
          <p:nvPr/>
        </p:nvSpPr>
        <p:spPr>
          <a:xfrm>
            <a:off x="8183879" y="1920240"/>
            <a:ext cx="73152" cy="3383280"/>
          </a:xfrm>
          <a:prstGeom prst="rect">
            <a:avLst/>
          </a:prstGeom>
          <a:solidFill>
            <a:srgbClr val="4D5B50"/>
          </a:solidFill>
          <a:ln>
            <a:noFill/>
          </a:ln>
        </p:spPr>
        <p:txBody>
          <a:bodyPr/>
          <a:lstStyle/>
          <a:p/>
        </p:txBody>
      </p:sp>
      <p:sp>
        <p:nvSpPr>
          <p:cNvPr id="19" name="实践价值 text"/>
          <p:cNvSpPr txBox="1"/>
          <p:nvPr/>
        </p:nvSpPr>
        <p:spPr>
          <a:xfrm>
            <a:off x="8403336" y="2084832"/>
            <a:ext cx="2587752" cy="3108960"/>
          </a:xfrm>
          <a:prstGeom prst="rect">
            <a:avLst/>
          </a:prstGeom>
          <a:noFill/>
          <a:ln>
            <a:noFill/>
          </a:ln>
        </p:spPr>
        <p:txBody>
          <a:bodyPr wrap="square" anchor="t" lIns="18288" rIns="18288" tIns="18288" bIns="0"/>
          <a:lstStyle/>
          <a:p>
            <a:pPr algn="l" marL="0" indent="0" spcBef="0" spcAft="80000">
              <a:buNone/>
            </a:pPr>
            <a:r>
              <a:rPr lang="zh-CN" sz="1450" b="1">
                <a:solidFill>
                  <a:srgbClr val="2B2B2B"/>
                </a:solidFill>
                <a:latin typeface="Aptos"/>
                <a:ea typeface="Microsoft YaHei"/>
              </a:rPr>
              <a:t>实践价值</a:t>
            </a:r>
          </a:p>
          <a:p>
            <a:pPr algn="l" marL="457200" indent="-228600" spcBef="0" spcAft="30000">
              <a:buChar char="•"/>
            </a:pPr>
            <a:r>
              <a:rPr lang="zh-CN" sz="1050">
                <a:solidFill>
                  <a:srgbClr val="5F6368"/>
                </a:solidFill>
                <a:latin typeface="Aptos"/>
                <a:ea typeface="Microsoft YaHei"/>
              </a:rPr>
              <a:t>对行业/组织/政策形成建议</a:t>
            </a:r>
          </a:p>
          <a:p>
            <a:pPr algn="l" marL="457200" indent="-228600" spcBef="0" spcAft="30000">
              <a:buChar char="•"/>
            </a:pPr>
            <a:r>
              <a:rPr lang="zh-CN" sz="1050">
                <a:solidFill>
                  <a:srgbClr val="5F6368"/>
                </a:solidFill>
                <a:latin typeface="Aptos"/>
                <a:ea typeface="Microsoft YaHei"/>
              </a:rPr>
              <a:t>提炼可操作方案或评估指标</a:t>
            </a:r>
          </a:p>
          <a:p>
            <a:pPr algn="l" marL="457200" indent="-228600" spcBef="0" spcAft="30000">
              <a:buChar char="•"/>
            </a:pPr>
            <a:r>
              <a:rPr lang="zh-CN" sz="1050">
                <a:solidFill>
                  <a:srgbClr val="5F6368"/>
                </a:solidFill>
                <a:latin typeface="Aptos"/>
                <a:ea typeface="Microsoft YaHei"/>
              </a:rPr>
              <a:t>明确适用场景与局限</a:t>
            </a:r>
          </a:p>
        </p:txBody>
      </p:sp>
      <p:sp>
        <p:nvSpPr>
          <p:cNvPr id="20"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21"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B01F24"/>
          </a:solidFill>
          <a:ln>
            <a:noFill/>
          </a:ln>
        </p:spPr>
        <p:txBody>
          <a:bodyPr/>
          <a:lstStyle/>
          <a:p/>
        </p:txBody>
      </p:sp>
      <p:pic>
        <p:nvPicPr>
          <p:cNvPr id="3" name="SJTU official horizontal logo"/>
          <p:cNvPicPr/>
          <p:nvPr/>
        </p:nvPicPr>
        <p:blipFill>
          <a:blip r:embed="rId2"/>
          <a:stretch>
            <a:fillRect/>
          </a:stretch>
        </p:blipFill>
        <p:spPr>
          <a:xfrm>
            <a:off x="640080" y="502920"/>
            <a:ext cx="2743200" cy="896112"/>
          </a:xfrm>
          <a:prstGeom prst="rect">
            <a:avLst/>
          </a:prstGeom>
        </p:spPr>
      </p:pic>
      <p:pic>
        <p:nvPicPr>
          <p:cNvPr id="4" name="SJTU seal watermark"/>
          <p:cNvPicPr/>
          <p:nvPr/>
        </p:nvPicPr>
        <p:blipFill>
          <a:blip r:embed="rId3">
            <a:alphaModFix amt="16000"/>
          </a:blip>
          <a:stretch>
            <a:fillRect/>
          </a:stretch>
        </p:blipFill>
        <p:spPr>
          <a:xfrm>
            <a:off x="7818120" y="1005840"/>
            <a:ext cx="3337560" cy="3337560"/>
          </a:xfrm>
          <a:prstGeom prst="rect">
            <a:avLst/>
          </a:prstGeom>
        </p:spPr>
      </p:pic>
      <p:sp>
        <p:nvSpPr>
          <p:cNvPr id="5" name="thanks"/>
          <p:cNvSpPr txBox="1"/>
          <p:nvPr/>
        </p:nvSpPr>
        <p:spPr>
          <a:xfrm>
            <a:off x="960120" y="2377440"/>
            <a:ext cx="6400800" cy="768096"/>
          </a:xfrm>
          <a:prstGeom prst="rect">
            <a:avLst/>
          </a:prstGeom>
          <a:noFill/>
          <a:ln>
            <a:noFill/>
          </a:ln>
        </p:spPr>
        <p:txBody>
          <a:bodyPr wrap="square" anchor="t" lIns="0" rIns="0" tIns="0" bIns="0"/>
          <a:lstStyle/>
          <a:p>
            <a:pPr algn="l" marL="0" indent="0" spcBef="0" spcAft="0">
              <a:buNone/>
            </a:pPr>
            <a:r>
              <a:rPr lang="zh-CN" sz="3100" b="1">
                <a:solidFill>
                  <a:srgbClr val="FFFFFF"/>
                </a:solidFill>
                <a:latin typeface="Aptos"/>
                <a:ea typeface="Microsoft YaHei"/>
              </a:rPr>
              <a:t>敬请各位老师批评指正</a:t>
            </a:r>
          </a:p>
        </p:txBody>
      </p:sp>
      <p:sp>
        <p:nvSpPr>
          <p:cNvPr id="6" name="thanks rule"/>
          <p:cNvSpPr/>
          <p:nvPr/>
        </p:nvSpPr>
        <p:spPr>
          <a:xfrm>
            <a:off x="987552" y="3429000"/>
            <a:ext cx="1920240" cy="54864"/>
          </a:xfrm>
          <a:prstGeom prst="rect">
            <a:avLst/>
          </a:prstGeom>
          <a:solidFill>
            <a:srgbClr val="C8A45D"/>
          </a:solidFill>
          <a:ln>
            <a:noFill/>
          </a:ln>
        </p:spPr>
        <p:txBody>
          <a:bodyPr/>
          <a:lstStyle/>
          <a:p/>
        </p:txBody>
      </p:sp>
      <p:sp>
        <p:nvSpPr>
          <p:cNvPr id="7" name="contact"/>
          <p:cNvSpPr txBox="1"/>
          <p:nvPr/>
        </p:nvSpPr>
        <p:spPr>
          <a:xfrm>
            <a:off x="987552" y="3913632"/>
            <a:ext cx="6217920" cy="658368"/>
          </a:xfrm>
          <a:prstGeom prst="rect">
            <a:avLst/>
          </a:prstGeom>
          <a:noFill/>
          <a:ln>
            <a:noFill/>
          </a:ln>
        </p:spPr>
        <p:txBody>
          <a:bodyPr wrap="square" anchor="t" lIns="0" rIns="0" tIns="0" bIns="0"/>
          <a:lstStyle/>
          <a:p>
            <a:pPr algn="l" marL="0" indent="0" spcBef="0" spcAft="0">
              <a:buNone/>
            </a:pPr>
            <a:r>
              <a:rPr lang="zh-CN" sz="1250">
                <a:solidFill>
                  <a:srgbClr val="FFFFFF"/>
                </a:solidFill>
                <a:latin typeface="Aptos"/>
                <a:ea typeface="Microsoft YaHei"/>
              </a:rPr>
              <a:t>答辩人：姓名    邮箱：name@sjtu.edu.cn</a:t>
            </a:r>
          </a:p>
        </p:txBody>
      </p:sp>
      <p:sp>
        <p:nvSpPr>
          <p:cNvPr id="8" name="source note"/>
          <p:cNvSpPr txBox="1"/>
          <p:nvPr/>
        </p:nvSpPr>
        <p:spPr>
          <a:xfrm>
            <a:off x="987552" y="6236208"/>
            <a:ext cx="9875520" cy="219456"/>
          </a:xfrm>
          <a:prstGeom prst="rect">
            <a:avLst/>
          </a:prstGeom>
          <a:noFill/>
          <a:ln>
            <a:noFill/>
          </a:ln>
        </p:spPr>
        <p:txBody>
          <a:bodyPr wrap="square" anchor="t" lIns="0" rIns="0" tIns="0" bIns="0"/>
          <a:lstStyle/>
          <a:p>
            <a:pPr algn="l" marL="0" indent="0" spcBef="0" spcAft="0">
              <a:buNone/>
            </a:pPr>
            <a:r>
              <a:rPr lang="zh-CN" sz="850">
                <a:solidFill>
                  <a:srgbClr val="FFFFFF"/>
                </a:solidFill>
                <a:latin typeface="Aptos"/>
                <a:ea typeface="Microsoft YaHei"/>
              </a:rPr>
              <a:t>本模板使用的校徽及中英文横版标志来自上海交通大学视觉形象识别系统官方附件。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3333333" cy="7500000"/>
          </a:xfrm>
          <a:prstGeom prst="rect">
            <a:avLst/>
          </a:prstGeom>
          <a:solidFill>
            <a:srgbClr val="F7F5F2"/>
          </a:solidFill>
          <a:ln>
            <a:noFill/>
          </a:ln>
        </p:spPr>
        <p:txBody>
          <a:bodyPr/>
          <a:lstStyle/>
          <a:p/>
        </p:txBody>
      </p:sp>
      <p:sp>
        <p:nvSpPr>
          <p:cNvPr id="3" name="top red rule"/>
          <p:cNvSpPr/>
          <p:nvPr/>
        </p:nvSpPr>
        <p:spPr>
          <a:xfrm>
            <a:off x="0" y="0"/>
            <a:ext cx="13333333" cy="73152"/>
          </a:xfrm>
          <a:prstGeom prst="rect">
            <a:avLst/>
          </a:prstGeom>
          <a:solidFill>
            <a:srgbClr val="B01F24"/>
          </a:solidFill>
          <a:ln>
            <a:noFill/>
          </a:ln>
        </p:spPr>
        <p:txBody>
          <a:bodyPr/>
          <a:lstStyle/>
          <a:p/>
        </p:txBody>
      </p:sp>
      <p:sp>
        <p:nvSpPr>
          <p:cNvPr id="4" name="bottom rule"/>
          <p:cNvSpPr/>
          <p:nvPr/>
        </p:nvSpPr>
        <p:spPr>
          <a:xfrm>
            <a:off x="0" y="7454280"/>
            <a:ext cx="13333333" cy="45720"/>
          </a:xfrm>
          <a:prstGeom prst="rect">
            <a:avLst/>
          </a:prstGeom>
          <a:solidFill>
            <a:srgbClr val="B01F24"/>
          </a:solidFill>
          <a:ln>
            <a:noFill/>
          </a:ln>
        </p:spPr>
        <p:txBody>
          <a:bodyPr/>
          <a:lstStyle/>
          <a:p/>
        </p:txBody>
      </p:sp>
      <p:pic>
        <p:nvPicPr>
          <p:cNvPr id="5" name="seal watermark"/>
          <p:cNvPicPr/>
          <p:nvPr/>
        </p:nvPicPr>
        <p:blipFill>
          <a:blip r:embed="rId2">
            <a:alphaModFix amt="8500"/>
          </a:blip>
          <a:stretch>
            <a:fillRect/>
          </a:stretch>
        </p:blipFill>
        <p:spPr>
          <a:xfrm>
            <a:off x="8869680" y="1965960"/>
            <a:ext cx="2926080" cy="2926080"/>
          </a:xfrm>
          <a:prstGeom prst="rect">
            <a:avLst/>
          </a:prstGeom>
        </p:spPr>
      </p:pic>
      <p:pic>
        <p:nvPicPr>
          <p:cNvPr id="6" name="SJTU horizontal logo"/>
          <p:cNvPicPr/>
          <p:nvPr/>
        </p:nvPicPr>
        <p:blipFill>
          <a:blip r:embed="rId3"/>
          <a:stretch>
            <a:fillRect/>
          </a:stretch>
        </p:blipFill>
        <p:spPr>
          <a:xfrm>
            <a:off x="475488" y="228600"/>
            <a:ext cx="2331720" cy="768096"/>
          </a:xfrm>
          <a:prstGeom prst="rect">
            <a:avLst/>
          </a:prstGeom>
        </p:spPr>
      </p:pic>
      <p:sp>
        <p:nvSpPr>
          <p:cNvPr id="7" name="section label"/>
          <p:cNvSpPr txBox="1"/>
          <p:nvPr/>
        </p:nvSpPr>
        <p:spPr>
          <a:xfrm>
            <a:off x="9189720" y="329184"/>
            <a:ext cx="2487168" cy="292608"/>
          </a:xfrm>
          <a:prstGeom prst="rect">
            <a:avLst/>
          </a:prstGeom>
          <a:noFill/>
          <a:ln>
            <a:noFill/>
          </a:ln>
        </p:spPr>
        <p:txBody>
          <a:bodyPr wrap="square" anchor="t" lIns="0" rIns="0" tIns="0" bIns="0"/>
          <a:lstStyle/>
          <a:p>
            <a:pPr algn="r" marL="0" indent="0" spcBef="0" spcAft="0">
              <a:buNone/>
            </a:pPr>
            <a:r>
              <a:rPr lang="zh-CN" sz="1100">
                <a:solidFill>
                  <a:srgbClr val="5F6368"/>
                </a:solidFill>
                <a:latin typeface="Aptos"/>
                <a:ea typeface="Microsoft YaHei"/>
              </a:rPr>
              <a:t>APPENDIX</a:t>
            </a:r>
          </a:p>
        </p:txBody>
      </p:sp>
      <p:sp>
        <p:nvSpPr>
          <p:cNvPr id="8" name="slide title"/>
          <p:cNvSpPr txBox="1"/>
          <p:nvPr/>
        </p:nvSpPr>
        <p:spPr>
          <a:xfrm>
            <a:off x="694944" y="896112"/>
            <a:ext cx="9006840" cy="658368"/>
          </a:xfrm>
          <a:prstGeom prst="rect">
            <a:avLst/>
          </a:prstGeom>
          <a:noFill/>
          <a:ln>
            <a:noFill/>
          </a:ln>
        </p:spPr>
        <p:txBody>
          <a:bodyPr wrap="square" anchor="t" lIns="0" rIns="0" tIns="0" bIns="0"/>
          <a:lstStyle/>
          <a:p>
            <a:pPr algn="l" marL="0" indent="0" spcBef="0" spcAft="0">
              <a:buNone/>
            </a:pPr>
            <a:r>
              <a:rPr lang="zh-CN" sz="2500" b="1">
                <a:solidFill>
                  <a:srgbClr val="2B2B2B"/>
                </a:solidFill>
                <a:latin typeface="Aptos"/>
                <a:ea typeface="Microsoft YaHei"/>
              </a:rPr>
              <a:t>标识来源与使用说明</a:t>
            </a:r>
          </a:p>
        </p:txBody>
      </p:sp>
      <p:sp>
        <p:nvSpPr>
          <p:cNvPr id="9" name="title accent"/>
          <p:cNvSpPr/>
          <p:nvPr/>
        </p:nvSpPr>
        <p:spPr>
          <a:xfrm>
            <a:off x="694944" y="1591056"/>
            <a:ext cx="841248" cy="45720"/>
          </a:xfrm>
          <a:prstGeom prst="rect">
            <a:avLst/>
          </a:prstGeom>
          <a:solidFill>
            <a:srgbClr val="B01F24"/>
          </a:solidFill>
          <a:ln>
            <a:noFill/>
          </a:ln>
        </p:spPr>
        <p:txBody>
          <a:bodyPr/>
          <a:lstStyle/>
          <a:p/>
        </p:txBody>
      </p:sp>
      <p:sp>
        <p:nvSpPr>
          <p:cNvPr id="10" name="slide subtitle"/>
          <p:cNvSpPr txBox="1"/>
          <p:nvPr/>
        </p:nvSpPr>
        <p:spPr>
          <a:xfrm>
            <a:off x="1691640" y="1490472"/>
            <a:ext cx="7772400" cy="256032"/>
          </a:xfrm>
          <a:prstGeom prst="rect">
            <a:avLst/>
          </a:prstGeom>
          <a:noFill/>
          <a:ln>
            <a:noFill/>
          </a:ln>
        </p:spPr>
        <p:txBody>
          <a:bodyPr wrap="square" anchor="t" lIns="0" rIns="0" tIns="0" bIns="0"/>
          <a:lstStyle/>
          <a:p>
            <a:pPr algn="l" marL="0" indent="0" spcBef="0" spcAft="0">
              <a:buNone/>
            </a:pPr>
            <a:r>
              <a:rPr lang="zh-CN" sz="1050">
                <a:solidFill>
                  <a:srgbClr val="5F6368"/>
                </a:solidFill>
                <a:latin typeface="Aptos"/>
                <a:ea typeface="Microsoft YaHei"/>
              </a:rPr>
              <a:t>保留此页便于答辩材料归档，也可按需要删除</a:t>
            </a:r>
          </a:p>
        </p:txBody>
      </p:sp>
      <p:sp>
        <p:nvSpPr>
          <p:cNvPr id="11" name="usage notes"/>
          <p:cNvSpPr txBox="1"/>
          <p:nvPr/>
        </p:nvSpPr>
        <p:spPr>
          <a:xfrm>
            <a:off x="960120" y="1920240"/>
            <a:ext cx="9966960" cy="2286000"/>
          </a:xfrm>
          <a:prstGeom prst="rect">
            <a:avLst/>
          </a:prstGeom>
          <a:noFill/>
          <a:ln>
            <a:noFill/>
          </a:ln>
        </p:spPr>
        <p:txBody>
          <a:bodyPr wrap="square" anchor="t" lIns="0" rIns="0" tIns="0" bIns="0"/>
          <a:lstStyle/>
          <a:p>
            <a:pPr algn="l" marL="457200" indent="-228600" spcBef="0" spcAft="55000">
              <a:buChar char="•"/>
            </a:pPr>
            <a:r>
              <a:rPr lang="zh-CN" sz="1250">
                <a:solidFill>
                  <a:srgbClr val="5F6368"/>
                </a:solidFill>
                <a:latin typeface="Aptos"/>
                <a:ea typeface="Microsoft YaHei"/>
              </a:rPr>
              <a:t>校徽图片：上海交通大学视觉形象识别系统官方附件“校标-校徽.png”。</a:t>
            </a:r>
          </a:p>
          <a:p>
            <a:pPr algn="l" marL="457200" indent="-228600" spcBef="0" spcAft="55000">
              <a:buChar char="•"/>
            </a:pPr>
            <a:r>
              <a:rPr lang="zh-CN" sz="1250">
                <a:solidFill>
                  <a:srgbClr val="5F6368"/>
                </a:solidFill>
                <a:latin typeface="Aptos"/>
                <a:ea typeface="Microsoft YaHei"/>
              </a:rPr>
              <a:t>横版标志：上海交通大学视觉形象识别系统官方附件“校标-标志中英文横版.png”。</a:t>
            </a:r>
          </a:p>
          <a:p>
            <a:pPr algn="l" marL="457200" indent="-228600" spcBef="0" spcAft="55000">
              <a:buChar char="•"/>
            </a:pPr>
            <a:r>
              <a:rPr lang="zh-CN" sz="1250">
                <a:solidFill>
                  <a:srgbClr val="5F6368"/>
                </a:solidFill>
                <a:latin typeface="Aptos"/>
                <a:ea typeface="Microsoft YaHei"/>
              </a:rPr>
              <a:t>模板主色：依据官方 VI 管理办法中标准色 CMYK（C20 M100 Y100 K0）近似换算为屏幕红色使用。</a:t>
            </a:r>
          </a:p>
          <a:p>
            <a:pPr algn="l" marL="457200" indent="-228600" spcBef="0" spcAft="55000">
              <a:buChar char="•"/>
            </a:pPr>
            <a:r>
              <a:rPr lang="zh-CN" sz="1250">
                <a:solidFill>
                  <a:srgbClr val="5F6368"/>
                </a:solidFill>
                <a:latin typeface="Aptos"/>
                <a:ea typeface="Microsoft YaHei"/>
              </a:rPr>
              <a:t>建议不要拉伸、重绘、改色或拼接校徽/校名标志；如需更多格式，请从官方 VI 页面重新下载。</a:t>
            </a:r>
          </a:p>
        </p:txBody>
      </p:sp>
      <p:sp>
        <p:nvSpPr>
          <p:cNvPr id="12" name="url"/>
          <p:cNvSpPr txBox="1"/>
          <p:nvPr/>
        </p:nvSpPr>
        <p:spPr>
          <a:xfrm>
            <a:off x="960120" y="4828032"/>
            <a:ext cx="9966960" cy="594360"/>
          </a:xfrm>
          <a:prstGeom prst="rect">
            <a:avLst/>
          </a:prstGeom>
          <a:noFill/>
          <a:ln>
            <a:noFill/>
          </a:ln>
        </p:spPr>
        <p:txBody>
          <a:bodyPr wrap="square" anchor="t" lIns="0" rIns="0" tIns="0" bIns="0"/>
          <a:lstStyle/>
          <a:p>
            <a:pPr algn="l" marL="0" indent="0" spcBef="0" spcAft="0">
              <a:buNone/>
            </a:pPr>
            <a:r>
              <a:rPr lang="zh-CN" sz="1200" b="1">
                <a:solidFill>
                  <a:srgbClr val="B01F24"/>
                </a:solidFill>
                <a:latin typeface="Aptos"/>
                <a:ea typeface="Microsoft YaHei"/>
              </a:rPr>
              <a:t>官方页面：https://vi.sjtu.edu.cn/index.php/articles/bulletin/13</a:t>
            </a:r>
          </a:p>
        </p:txBody>
      </p:sp>
      <p:sp>
        <p:nvSpPr>
          <p:cNvPr id="13" name="footer text"/>
          <p:cNvSpPr txBox="1"/>
          <p:nvPr/>
        </p:nvSpPr>
        <p:spPr>
          <a:xfrm>
            <a:off x="676656" y="6510528"/>
            <a:ext cx="5486400" cy="201168"/>
          </a:xfrm>
          <a:prstGeom prst="rect">
            <a:avLst/>
          </a:prstGeom>
          <a:noFill/>
          <a:ln>
            <a:noFill/>
          </a:ln>
        </p:spPr>
        <p:txBody>
          <a:bodyPr wrap="square" anchor="t" lIns="0" rIns="0" tIns="0" bIns="0"/>
          <a:lstStyle/>
          <a:p>
            <a:pPr algn="l" marL="0" indent="0" spcBef="0" spcAft="0">
              <a:buNone/>
            </a:pPr>
            <a:r>
              <a:rPr lang="zh-CN" sz="800">
                <a:solidFill>
                  <a:srgbClr val="5F6368"/>
                </a:solidFill>
                <a:latin typeface="Aptos"/>
                <a:ea typeface="Microsoft YaHei"/>
              </a:rPr>
              <a:t>上海交通大学 | 开题答辩</a:t>
            </a:r>
          </a:p>
        </p:txBody>
      </p:sp>
      <p:sp>
        <p:nvSpPr>
          <p:cNvPr id="14" name="page number"/>
          <p:cNvSpPr txBox="1"/>
          <p:nvPr/>
        </p:nvSpPr>
        <p:spPr>
          <a:xfrm>
            <a:off x="11155680" y="6510528"/>
            <a:ext cx="384048" cy="201168"/>
          </a:xfrm>
          <a:prstGeom prst="rect">
            <a:avLst/>
          </a:prstGeom>
          <a:noFill/>
          <a:ln>
            <a:noFill/>
          </a:ln>
        </p:spPr>
        <p:txBody>
          <a:bodyPr wrap="square" anchor="t" lIns="0" rIns="0" tIns="0" bIns="0"/>
          <a:lstStyle/>
          <a:p>
            <a:pPr algn="r" marL="0" indent="0" spcBef="0" spcAft="0">
              <a:buNone/>
            </a:pPr>
            <a:r>
              <a:rPr lang="zh-CN" sz="800">
                <a:solidFill>
                  <a:srgbClr val="5F6368"/>
                </a:solidFill>
                <a:latin typeface="Aptos"/>
                <a:ea typeface="Microsoft YaHei"/>
              </a:rPr>
              <a:t>11</a:t>
            </a:r>
          </a:p>
        </p:txBody>
      </p:sp>
    </p:spTree>
  </p:cSld>
  <p:clrMapOvr>
    <a:masterClrMapping/>
  </p:clrMapOvr>
</p:sld>
</file>

<file path=ppt/theme/theme1.xml><?xml version="1.0" encoding="utf-8"?>
<a:theme xmlns:a="http://schemas.openxmlformats.org/drawingml/2006/main" name="SJTU Proposal Theme">
  <a:themeElements>
    <a:clrScheme name="SJTU">
      <a:dk1>
        <a:srgbClr val="2B2B2B"/>
      </a:dk1>
      <a:lt1>
        <a:srgbClr val="FFFFFF"/>
      </a:lt1>
      <a:dk2>
        <a:srgbClr val="B01F24"/>
      </a:dk2>
      <a:lt2>
        <a:srgbClr val="F7F5F2"/>
      </a:lt2>
      <a:accent1>
        <a:srgbClr val="B01F24"/>
      </a:accent1>
      <a:accent2>
        <a:srgbClr val="C8A45D"/>
      </a:accent2>
      <a:accent3>
        <a:srgbClr val="2F6F73"/>
      </a:accent3>
      <a:accent4>
        <a:srgbClr val="4D5B50"/>
      </a:accent4>
      <a:accent5>
        <a:srgbClr val="8A6D3B"/>
      </a:accent5>
      <a:accent6>
        <a:srgbClr val="5F6368"/>
      </a:accent6>
      <a:hlink>
        <a:srgbClr val="B01F24"/>
      </a:hlink>
      <a:folHlink>
        <a:srgbClr val="7A1B1D"/>
      </a:folHlink>
    </a:clrScheme>
    <a:fontScheme name="SJTU Fonts">
      <a:majorFont>
        <a:latin typeface="Aptos Display"/>
        <a:ea typeface="Microsoft YaHei"/>
      </a:majorFont>
      <a:minorFont>
        <a:latin typeface="Aptos"/>
        <a:ea typeface="Microsoft YaHei"/>
      </a:minorFont>
    </a:fontScheme>
    <a:fmtScheme name="SJTU Forma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PowerPoint</Application>
  <PresentationFormat>On-screen Show (16:9)</PresentationFormat>
  <Slides>11</Slides>
  <Company>上海交通大学</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上海交通大学开题答辩PPT模板</dc:title>
  <dc:subject>开题答辩模板</dc:subject>
  <dc:creator>Codex</dc:creator>
  <cp:keywords>上海交通大学; SJTU; 开题答辩; PPT模板</cp:keywords>
  <dc:description>使用上海交通大学视觉形象识别系统官方附件生成的开题答辩模板。</dc:description>
  <cp:lastModifiedBy>Codex</cp:lastModifiedBy>
  <dcterms:created xsi:type="dcterms:W3CDTF">2026-07-08T00:00:00Z</dcterms:created>
  <dcterms:modified xsi:type="dcterms:W3CDTF">2026-07-08T00:00:00Z</dcterms:modified>
</cp:coreProperties>
</file>